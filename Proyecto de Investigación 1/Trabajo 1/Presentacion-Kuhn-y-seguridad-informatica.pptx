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CFA8ABE-0C4E-8B25-DF1A-45625A3821A0}">
          <p14:sldIdLst>
            <p14:sldId id="256"/>
          </p14:sldIdLst>
        </p14:section>
        <p14:section name="Teoría" id="{FC69A40A-BF8C-DE8D-E391-6277EDAE6EC1}">
          <p14:sldIdLst>
            <p14:sldId id="257"/>
            <p14:sldId id="258"/>
            <p14:sldId id="259"/>
            <p14:sldId id="260"/>
            <p14:sldId id="261"/>
          </p14:sldIdLst>
        </p14:section>
        <p14:section name="Aplicación" id="{C2FD57DD-B768-AC1C-9FBE-D9D686FF9E51}">
          <p14:sldIdLst>
            <p14:sldId id="262"/>
            <p14:sldId id="263"/>
          </p14:sldIdLst>
        </p14:section>
        <p14:section name="Problema" id="{E9EF2151-D93B-2474-40B4-FA38D8D9166F}">
          <p14:sldIdLst>
            <p14:sldId id="264"/>
            <p14:sldId id="265"/>
            <p14:sldId id="266"/>
            <p14:sldId id="267"/>
            <p14:sldId id="268"/>
            <p14:sldId id="269"/>
          </p14:sldIdLst>
        </p14:section>
        <p14:section name="Cierre" id="{1773FC40-3432-D3DC-6B1C-F84AAF4E62C9}">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677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noches. Mi nombre es Gerbert García. Voy a presentar la teoría de los paradigmas de Thomas Kuhn y a mostrar cómo sirve para entender un problema real de la seguridad del software. Al final planteo el problema de investigación que propongo para el curso.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tiene tres partes. Primero, la teoría de Kuhn y una lectura crítica. Segundo, su aplicación al cambio que vive hoy la seguridad del software. Tercero, el problema de investigación que surge de esa aplicación.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Kuhn se opone a la idea de que la ciencia progresa de forma lineal y acumulativa. Para él, el progreso ocurre por etapas separadas por rupturas. Además introduce la inconmensurabilidad: no se puede juzgar una teoría antigua con los criterios de la actual, porque cada paradigma organiza la realidad de otra manera.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Kuhn se resume en cinco etapas. En la ciencia normal, la comunidad trabaja dentro de un paradigma. Con el tiempo se acumulan anomalías, problemas que el paradigma no explica. Cuando se reconocen, empieza una crisis. La crisis puede terminar en una revolución, donde un paradigma nuevo sustituye al anterior, y el ciclo vuelve a empezar.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ideas bastan para usar la teoría. El paradigma es el marco de creencias que comparte una comunidad. La ciencia normal es el trabajo de desarrollar ese paradigma. Las anomalías son los problemas que no encajan. Y la inconmensurabilidad dice que un paradigma nuevo no es una versión mejorada del anterior, sino otra forma de ver el problema.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lectura crítica reconoce el aporte y los límites. El aporte: Kuhn da valor al contexto histórico y social de la ciencia. El límite: su concepto de paradigma es impreciso, y él mismo tuvo que revisarlo. Frente a Lakatos, que parte de una norma previa, Kuhn describe lo que la comunidad científica realmente hace. Y una cautela importante: Kuhn habló de ciencias naturales, así que aplicarlo a la seguridad informática es una analogía útil, no una prueba.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aplico la teoría. El paradigma vigente fue la seguridad perimetral y revisar la seguridad al final. Las anomalías aparecen cuando la explotación de vulnerabilidades pasa a ser la vía de entrada más frecuente. La crisis se ve en la deuda de seguridad y el costo de las brechas. El nuevo paradigma es Zero Trust y el desarrollo seguro desde el diseño. Y la inconmensurabilidad sugiere por qué cuesta cambiar: seguridad y desarrollo hablan lenguajes distintos. Esto último es una hipótesis que el estudio debe contrastar.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tres cifras muestran la crisis. Según Verizon 2026, el 31 % de las brechas empieza explotando una vulnerabilidad, y por primera vez supera al robo de credenciales. Según Veracode, el 82 % de las organizaciones acumula deuda de seguridad. Y según IBM, una brecha cuesta en promedio casi cinco millones de dólares.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delimitar el problema uso la técnica del embudo. En el nivel macro, el panorama mundial que acabo de mostrar. En el nivel meso, Guatemala: los ciberataques aumentaron 200 % en 2024 y la ley de ciberseguridad sigue en discusión. En el nivel micro, los equipos de desarrollo de empresas medianas del área metropolitana, donde no encontré datos publicados.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central es que los equipos de desarrollo de empresas medianas del área metropolitana integran de forma limitada y sin documentar la seguridad en su ciclo de desarrollo. Hay tres deficiencias en el conocimiento: no hay datos locales, los factores organizacionales se han estudiado menos que los tecnológicos y faltan instrumentos adaptados a nuestro contexto.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árbol de problemas, el tronco es el problema central. Las raíces son cinco causas: capacitación insuficiente, plazos de entrega que desplazan la seguridad, políticas débiles, la persistencia del enfoque de seguridad al final y poco conocimiento o costo de las herramientas. Las ramas son los efectos: vulnerabilidades en producción, mayor costo de corrección, más exposición a incidentes y pérdida de confianza.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convertir el árbol de problemas en árbol de objetivos, cada causa pasa a ser un medio y cada efecto un fin. El problema central se convierte en el objetivo central: comprender los factores organizacionales que condicionan la adopción de prácticas de seguridad.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investigación sigue la fórmula vista en clase: pregunta guía, variables, población, espacio y tiempo. El objetivo general es analizar esos factores organizacionales. Los tres específicos: identificar las prácticas que ya aplican, describir las barreras que perciben y determinar la relación entre capacitación y adopción.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justificación tiene tres perspectivas. La teórica aplica la teoría de Kuhn y aporta evidencia local. La metodológica propone un instrumento basado en el marco SSDF. La práctica orienta decisiones de capacitación, políticas y herramientas. En cuanto a la viabilidad, el estudio es viable; el único factor condicionado es el acceso a los participantes, que se atiende con participación voluntaria y anónima.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teoría de Kuhn da un lenguaje para entender por qué un cambio técnico encuentra resistencia. La evidencia internacional muestra que el enfoque tradicional ya no alcanza. Y en Guatemala falta evidencia local sobre qué frena la adopción del desarrollo seguro; ese es el vacío que propone llenar esta investigación. Muchas gracias.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675"/>
                </a:solidFill>
              </a:rPr>
              <a:t>Trabajo No. 1 · Proyecto de Investigación I</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rgbClr val="1B2A4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10058400" cy="365760"/>
          </a:xfrm>
          <a:prstGeom prst="rect">
            <a:avLst/>
          </a:prstGeom>
          <a:noFill/>
          <a:ln/>
        </p:spPr>
        <p:txBody>
          <a:bodyPr wrap="square" lIns="0" tIns="0" rIns="0" bIns="0" rtlCol="0" anchor="t"/>
          <a:lstStyle/>
          <a:p>
            <a:pPr marL="0" indent="0">
              <a:buNone/>
            </a:pPr>
            <a:r>
              <a:rPr lang="en-US" sz="1400" b="1" kern="0" spc="300" dirty="0">
                <a:solidFill>
                  <a:schemeClr val="accent3"/>
                </a:solidFill>
                <a:latin typeface="Calibri" pitchFamily="34" charset="0"/>
                <a:ea typeface="Calibri" pitchFamily="34" charset="-122"/>
                <a:cs typeface="Calibri" pitchFamily="34" charset="-120"/>
              </a:rPr>
              <a:t>PROYECTO DE INVESTIGACIÓN I · TRABAJO No. 1</a:t>
            </a:r>
            <a:endParaRPr lang="en-US" sz="1400" dirty="0"/>
          </a:p>
        </p:txBody>
      </p:sp>
      <p:sp>
        <p:nvSpPr>
          <p:cNvPr id="3" name="Text 1"/>
          <p:cNvSpPr/>
          <p:nvPr/>
        </p:nvSpPr>
        <p:spPr>
          <a:xfrm>
            <a:off x="0" y="0"/>
            <a:ext cx="9144000" cy="0"/>
          </a:xfrm>
          <a:prstGeom prst="rect">
            <a:avLst/>
          </a:prstGeom>
          <a:noFill/>
          <a:ln/>
        </p:spPr>
        <p:txBody>
          <a:bodyPr wrap="square" rtlCol="0"/>
          <a:lstStyle/>
          <a:p>
            <a:pPr marL="0" indent="0">
              <a:buNone/>
            </a:pPr>
            <a:r>
              <a:rPr lang="en-US" dirty="0"/>
              <a:t>La teoría de los paradigmas de Thomas Kuhn</a:t>
            </a:r>
          </a:p>
        </p:txBody>
      </p:sp>
      <p:sp>
        <p:nvSpPr>
          <p:cNvPr id="4" name="Text 2"/>
          <p:cNvSpPr txBox="1"/>
          <p:nvPr/>
        </p:nvSpPr>
        <p:spPr>
          <a:xfrm>
            <a:off x="731520" y="1371600"/>
            <a:ext cx="10515600" cy="548640"/>
          </a:xfrm>
          <a:prstGeom prst="rect">
            <a:avLst/>
          </a:prstGeom>
          <a:noFill/>
          <a:ln/>
        </p:spPr>
        <p:txBody>
          <a:bodyPr wrap="square" lIns="0" tIns="0" rIns="0" bIns="0" rtlCol="0" anchor="t"/>
          <a:lstStyle/>
          <a:p>
            <a:pPr marL="0" indent="0">
              <a:buNone/>
            </a:pPr>
            <a:r>
              <a:rPr lang="en-US" sz="7200" i="1" dirty="0">
                <a:solidFill>
                  <a:schemeClr val="accent6"/>
                </a:solidFill>
                <a:latin typeface="Cambria" pitchFamily="34" charset="0"/>
                <a:ea typeface="Cambria" pitchFamily="34" charset="-122"/>
                <a:cs typeface="Cambria" pitchFamily="34" charset="-120"/>
              </a:rPr>
              <a:t>Una lectura crítica aplicada a la seguridad informática</a:t>
            </a:r>
            <a:endParaRPr lang="en-US" sz="7200" dirty="0"/>
          </a:p>
        </p:txBody>
      </p:sp>
      <p:sp>
        <p:nvSpPr>
          <p:cNvPr id="5" name="Text 3"/>
          <p:cNvSpPr txBox="1"/>
          <p:nvPr/>
        </p:nvSpPr>
        <p:spPr>
          <a:xfrm>
            <a:off x="731520" y="4846320"/>
            <a:ext cx="10515600" cy="1097280"/>
          </a:xfrm>
          <a:prstGeom prst="rect">
            <a:avLst/>
          </a:prstGeom>
          <a:noFill/>
          <a:ln/>
        </p:spPr>
        <p:txBody>
          <a:bodyPr wrap="square" lIns="0" tIns="0" rIns="0" bIns="0" rtlCol="0" anchor="t"/>
          <a:lstStyle/>
          <a:p>
            <a:pPr marL="0" indent="0">
              <a:spcAft>
                <a:spcPts val="400"/>
              </a:spcAft>
              <a:buNone/>
            </a:pPr>
            <a:r>
              <a:rPr lang="en-US" sz="1600" b="1" dirty="0">
                <a:solidFill>
                  <a:schemeClr val="bg1"/>
                </a:solidFill>
                <a:latin typeface="Calibri" pitchFamily="34" charset="0"/>
                <a:ea typeface="Calibri" pitchFamily="34" charset="-122"/>
                <a:cs typeface="Calibri" pitchFamily="34" charset="-120"/>
              </a:rPr>
              <a:t>Gerbert David García Loaiza</a:t>
            </a:r>
            <a:endParaRPr lang="en-US" sz="1600" dirty="0"/>
          </a:p>
          <a:p>
            <a:pPr marL="0" indent="0">
              <a:spcAft>
                <a:spcPts val="400"/>
              </a:spcAft>
              <a:buNone/>
            </a:pPr>
            <a:r>
              <a:rPr lang="en-US" sz="1600" dirty="0">
                <a:solidFill>
                  <a:schemeClr val="bg1"/>
                </a:solidFill>
                <a:latin typeface="Calibri" pitchFamily="34" charset="0"/>
                <a:ea typeface="Calibri" pitchFamily="34" charset="-122"/>
                <a:cs typeface="Calibri" pitchFamily="34" charset="-120"/>
              </a:rPr>
              <a:t>Maestría en Seguridad Informática · Universidad Mariano Gálvez de Guatemala</a:t>
            </a:r>
            <a:endParaRPr lang="en-US" sz="1600" dirty="0"/>
          </a:p>
          <a:p>
            <a:pPr marL="0" indent="0">
              <a:spcAft>
                <a:spcPts val="400"/>
              </a:spcAft>
              <a:buNone/>
            </a:pPr>
            <a:r>
              <a:rPr lang="en-US" sz="1600" dirty="0">
                <a:solidFill>
                  <a:schemeClr val="bg1"/>
                </a:solidFill>
                <a:latin typeface="Calibri" pitchFamily="34" charset="0"/>
                <a:ea typeface="Calibri" pitchFamily="34" charset="-122"/>
                <a:cs typeface="Calibri" pitchFamily="34" charset="-120"/>
              </a:rPr>
              <a:t>Catedrático: Ing. Albino Cesare Buratti Aldana · Octubre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Ruta de la exposición</a:t>
            </a:r>
          </a:p>
        </p:txBody>
      </p:sp>
      <p:sp>
        <p:nvSpPr>
          <p:cNvPr id="3" name="tarjeta ruta 1"/>
          <p:cNvSpPr/>
          <p:nvPr/>
        </p:nvSpPr>
        <p:spPr>
          <a:xfrm>
            <a:off x="548640" y="1737360"/>
            <a:ext cx="3520440" cy="3840480"/>
          </a:xfrm>
          <a:prstGeom prst="roundRect">
            <a:avLst>
              <a:gd name="adj" fmla="val 3117"/>
            </a:avLst>
          </a:prstGeom>
          <a:solidFill>
            <a:schemeClr val="bg2"/>
          </a:solidFill>
          <a:ln w="12700">
            <a:solidFill>
              <a:schemeClr val="bg2"/>
            </a:solidFill>
            <a:prstDash val="solid"/>
          </a:ln>
        </p:spPr>
      </p:sp>
      <p:sp>
        <p:nvSpPr>
          <p:cNvPr id="4" name="círculo 1"/>
          <p:cNvSpPr/>
          <p:nvPr/>
        </p:nvSpPr>
        <p:spPr>
          <a:xfrm>
            <a:off x="868680" y="205740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868680" y="2057400"/>
            <a:ext cx="822960" cy="82296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868680" y="3154680"/>
            <a:ext cx="2926080" cy="548640"/>
          </a:xfrm>
          <a:prstGeom prst="rect">
            <a:avLst/>
          </a:prstGeom>
          <a:noFill/>
          <a:ln/>
        </p:spPr>
        <p:txBody>
          <a:bodyPr wrap="square" lIns="0" tIns="0" rIns="0" bIns="0" rtlCol="0" anchor="t"/>
          <a:lstStyle/>
          <a:p>
            <a:pPr marL="0" indent="0">
              <a:buNone/>
            </a:pPr>
            <a:r>
              <a:rPr lang="en-US" sz="2600" b="1" dirty="0">
                <a:solidFill>
                  <a:schemeClr val="tx1"/>
                </a:solidFill>
                <a:latin typeface="Cambria" pitchFamily="34" charset="0"/>
                <a:ea typeface="Cambria" pitchFamily="34" charset="-122"/>
                <a:cs typeface="Cambria" pitchFamily="34" charset="-120"/>
              </a:rPr>
              <a:t>La teoría</a:t>
            </a:r>
            <a:endParaRPr lang="en-US" sz="2600" dirty="0"/>
          </a:p>
        </p:txBody>
      </p:sp>
      <p:sp>
        <p:nvSpPr>
          <p:cNvPr id="7" name="Text 5"/>
          <p:cNvSpPr txBox="1"/>
          <p:nvPr/>
        </p:nvSpPr>
        <p:spPr>
          <a:xfrm>
            <a:off x="868680" y="3840480"/>
            <a:ext cx="2926080" cy="1463040"/>
          </a:xfrm>
          <a:prstGeom prst="rect">
            <a:avLst/>
          </a:prstGeom>
          <a:noFill/>
          <a:ln/>
        </p:spPr>
        <p:txBody>
          <a:bodyPr wrap="square" lIns="0" tIns="0" rIns="0" bIns="0" rtlCol="0" anchor="t"/>
          <a:lstStyle/>
          <a:p>
            <a:pPr marL="0" indent="0">
              <a:buNone/>
            </a:pPr>
            <a:r>
              <a:rPr lang="en-US" sz="1800" dirty="0">
                <a:solidFill>
                  <a:schemeClr val="tx2"/>
                </a:solidFill>
                <a:latin typeface="Calibri" pitchFamily="34" charset="0"/>
                <a:ea typeface="Calibri" pitchFamily="34" charset="-122"/>
                <a:cs typeface="Calibri" pitchFamily="34" charset="-120"/>
              </a:rPr>
              <a:t>Qué propone Kuhn y cómo se lee de forma crítica</a:t>
            </a:r>
            <a:endParaRPr lang="en-US" sz="1800" dirty="0"/>
          </a:p>
        </p:txBody>
      </p:sp>
      <p:sp>
        <p:nvSpPr>
          <p:cNvPr id="8" name="tarjeta ruta 2"/>
          <p:cNvSpPr/>
          <p:nvPr/>
        </p:nvSpPr>
        <p:spPr>
          <a:xfrm>
            <a:off x="4343400" y="1737360"/>
            <a:ext cx="3520440" cy="3840480"/>
          </a:xfrm>
          <a:prstGeom prst="roundRect">
            <a:avLst>
              <a:gd name="adj" fmla="val 3117"/>
            </a:avLst>
          </a:prstGeom>
          <a:solidFill>
            <a:schemeClr val="bg2"/>
          </a:solidFill>
          <a:ln w="12700">
            <a:solidFill>
              <a:schemeClr val="bg2"/>
            </a:solidFill>
            <a:prstDash val="solid"/>
          </a:ln>
        </p:spPr>
      </p:sp>
      <p:sp>
        <p:nvSpPr>
          <p:cNvPr id="9" name="círculo 2"/>
          <p:cNvSpPr/>
          <p:nvPr/>
        </p:nvSpPr>
        <p:spPr>
          <a:xfrm>
            <a:off x="4663440" y="2057400"/>
            <a:ext cx="822960" cy="822960"/>
          </a:xfrm>
          <a:prstGeom prst="ellipse">
            <a:avLst/>
          </a:prstGeom>
          <a:solidFill>
            <a:schemeClr val="accent3"/>
          </a:solidFill>
          <a:ln w="12700">
            <a:solidFill>
              <a:schemeClr val="accent3"/>
            </a:solidFill>
            <a:prstDash val="solid"/>
          </a:ln>
        </p:spPr>
      </p:sp>
      <p:sp>
        <p:nvSpPr>
          <p:cNvPr id="10" name="Text 8"/>
          <p:cNvSpPr txBox="1"/>
          <p:nvPr/>
        </p:nvSpPr>
        <p:spPr>
          <a:xfrm>
            <a:off x="4663440" y="2057400"/>
            <a:ext cx="822960" cy="82296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2</a:t>
            </a:r>
            <a:endParaRPr lang="en-US" sz="3000" dirty="0"/>
          </a:p>
        </p:txBody>
      </p:sp>
      <p:sp>
        <p:nvSpPr>
          <p:cNvPr id="11" name="Text 9"/>
          <p:cNvSpPr txBox="1"/>
          <p:nvPr/>
        </p:nvSpPr>
        <p:spPr>
          <a:xfrm>
            <a:off x="4663440" y="3154680"/>
            <a:ext cx="2926080" cy="548640"/>
          </a:xfrm>
          <a:prstGeom prst="rect">
            <a:avLst/>
          </a:prstGeom>
          <a:noFill/>
          <a:ln/>
        </p:spPr>
        <p:txBody>
          <a:bodyPr wrap="square" lIns="0" tIns="0" rIns="0" bIns="0" rtlCol="0" anchor="t"/>
          <a:lstStyle/>
          <a:p>
            <a:pPr marL="0" indent="0">
              <a:buNone/>
            </a:pPr>
            <a:r>
              <a:rPr lang="en-US" sz="2600" b="1" dirty="0">
                <a:solidFill>
                  <a:schemeClr val="tx1"/>
                </a:solidFill>
                <a:latin typeface="Cambria" pitchFamily="34" charset="0"/>
                <a:ea typeface="Cambria" pitchFamily="34" charset="-122"/>
                <a:cs typeface="Cambria" pitchFamily="34" charset="-120"/>
              </a:rPr>
              <a:t>La aplicación</a:t>
            </a:r>
            <a:endParaRPr lang="en-US" sz="2600" dirty="0"/>
          </a:p>
        </p:txBody>
      </p:sp>
      <p:sp>
        <p:nvSpPr>
          <p:cNvPr id="12" name="Text 10"/>
          <p:cNvSpPr txBox="1"/>
          <p:nvPr/>
        </p:nvSpPr>
        <p:spPr>
          <a:xfrm>
            <a:off x="4663440" y="3840480"/>
            <a:ext cx="2926080" cy="1463040"/>
          </a:xfrm>
          <a:prstGeom prst="rect">
            <a:avLst/>
          </a:prstGeom>
          <a:noFill/>
          <a:ln/>
        </p:spPr>
        <p:txBody>
          <a:bodyPr wrap="square" lIns="0" tIns="0" rIns="0" bIns="0" rtlCol="0" anchor="t"/>
          <a:lstStyle/>
          <a:p>
            <a:pPr marL="0" indent="0">
              <a:buNone/>
            </a:pPr>
            <a:r>
              <a:rPr lang="en-US" sz="1800" dirty="0">
                <a:solidFill>
                  <a:schemeClr val="tx2"/>
                </a:solidFill>
                <a:latin typeface="Calibri" pitchFamily="34" charset="0"/>
                <a:ea typeface="Calibri" pitchFamily="34" charset="-122"/>
                <a:cs typeface="Calibri" pitchFamily="34" charset="-120"/>
              </a:rPr>
              <a:t>Qué explica sobre el cambio en la seguridad del software</a:t>
            </a:r>
            <a:endParaRPr lang="en-US" sz="1800" dirty="0"/>
          </a:p>
        </p:txBody>
      </p:sp>
      <p:sp>
        <p:nvSpPr>
          <p:cNvPr id="13" name="tarjeta ruta 3"/>
          <p:cNvSpPr/>
          <p:nvPr/>
        </p:nvSpPr>
        <p:spPr>
          <a:xfrm>
            <a:off x="8138160" y="1737360"/>
            <a:ext cx="3520440" cy="3840480"/>
          </a:xfrm>
          <a:prstGeom prst="roundRect">
            <a:avLst>
              <a:gd name="adj" fmla="val 3117"/>
            </a:avLst>
          </a:prstGeom>
          <a:solidFill>
            <a:schemeClr val="bg2"/>
          </a:solidFill>
          <a:ln w="12700">
            <a:solidFill>
              <a:schemeClr val="bg2"/>
            </a:solidFill>
            <a:prstDash val="solid"/>
          </a:ln>
        </p:spPr>
      </p:sp>
      <p:sp>
        <p:nvSpPr>
          <p:cNvPr id="14" name="círculo 3"/>
          <p:cNvSpPr/>
          <p:nvPr/>
        </p:nvSpPr>
        <p:spPr>
          <a:xfrm>
            <a:off x="8458200" y="2057400"/>
            <a:ext cx="822960" cy="822960"/>
          </a:xfrm>
          <a:prstGeom prst="ellipse">
            <a:avLst/>
          </a:prstGeom>
          <a:solidFill>
            <a:schemeClr val="accent2"/>
          </a:solidFill>
          <a:ln w="12700">
            <a:solidFill>
              <a:schemeClr val="accent2"/>
            </a:solidFill>
            <a:prstDash val="solid"/>
          </a:ln>
        </p:spPr>
      </p:sp>
      <p:sp>
        <p:nvSpPr>
          <p:cNvPr id="15" name="Text 13"/>
          <p:cNvSpPr txBox="1"/>
          <p:nvPr/>
        </p:nvSpPr>
        <p:spPr>
          <a:xfrm>
            <a:off x="8458200" y="2057400"/>
            <a:ext cx="822960" cy="82296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3</a:t>
            </a:r>
            <a:endParaRPr lang="en-US" sz="3000" dirty="0"/>
          </a:p>
        </p:txBody>
      </p:sp>
      <p:sp>
        <p:nvSpPr>
          <p:cNvPr id="16" name="Text 14"/>
          <p:cNvSpPr txBox="1"/>
          <p:nvPr/>
        </p:nvSpPr>
        <p:spPr>
          <a:xfrm>
            <a:off x="8458200" y="3154680"/>
            <a:ext cx="2926080" cy="548640"/>
          </a:xfrm>
          <a:prstGeom prst="rect">
            <a:avLst/>
          </a:prstGeom>
          <a:noFill/>
          <a:ln/>
        </p:spPr>
        <p:txBody>
          <a:bodyPr wrap="square" lIns="0" tIns="0" rIns="0" bIns="0" rtlCol="0" anchor="t"/>
          <a:lstStyle/>
          <a:p>
            <a:pPr marL="0" indent="0">
              <a:buNone/>
            </a:pPr>
            <a:r>
              <a:rPr lang="en-US" sz="2600" b="1" dirty="0">
                <a:solidFill>
                  <a:schemeClr val="tx1"/>
                </a:solidFill>
                <a:latin typeface="Cambria" pitchFamily="34" charset="0"/>
                <a:ea typeface="Cambria" pitchFamily="34" charset="-122"/>
                <a:cs typeface="Cambria" pitchFamily="34" charset="-120"/>
              </a:rPr>
              <a:t>El problema</a:t>
            </a:r>
            <a:endParaRPr lang="en-US" sz="2600" dirty="0"/>
          </a:p>
        </p:txBody>
      </p:sp>
      <p:sp>
        <p:nvSpPr>
          <p:cNvPr id="17" name="Text 15"/>
          <p:cNvSpPr txBox="1"/>
          <p:nvPr/>
        </p:nvSpPr>
        <p:spPr>
          <a:xfrm>
            <a:off x="8458200" y="3840480"/>
            <a:ext cx="2926080" cy="1463040"/>
          </a:xfrm>
          <a:prstGeom prst="rect">
            <a:avLst/>
          </a:prstGeom>
          <a:noFill/>
          <a:ln/>
        </p:spPr>
        <p:txBody>
          <a:bodyPr wrap="square" lIns="0" tIns="0" rIns="0" bIns="0" rtlCol="0" anchor="t"/>
          <a:lstStyle/>
          <a:p>
            <a:pPr marL="0" indent="0">
              <a:buNone/>
            </a:pPr>
            <a:r>
              <a:rPr lang="en-US" sz="1800" dirty="0">
                <a:solidFill>
                  <a:schemeClr val="tx2"/>
                </a:solidFill>
                <a:latin typeface="Calibri" pitchFamily="34" charset="0"/>
                <a:ea typeface="Calibri" pitchFamily="34" charset="-122"/>
                <a:cs typeface="Calibri" pitchFamily="34" charset="-120"/>
              </a:rPr>
              <a:t>Planteamiento, objetivos, justificación y viabilidad</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La ciencia avanza por rupturas</a:t>
            </a:r>
          </a:p>
        </p:txBody>
      </p:sp>
      <p:sp>
        <p:nvSpPr>
          <p:cNvPr id="3" name="idea central"/>
          <p:cNvSpPr/>
          <p:nvPr/>
        </p:nvSpPr>
        <p:spPr>
          <a:xfrm>
            <a:off x="548640" y="1554480"/>
            <a:ext cx="3657600" cy="4480560"/>
          </a:xfrm>
          <a:prstGeom prst="roundRect">
            <a:avLst>
              <a:gd name="adj" fmla="val 3000"/>
            </a:avLst>
          </a:prstGeom>
          <a:solidFill>
            <a:schemeClr val="tx1"/>
          </a:solidFill>
          <a:ln w="12700">
            <a:solidFill>
              <a:schemeClr val="tx1"/>
            </a:solidFill>
            <a:prstDash val="solid"/>
          </a:ln>
        </p:spPr>
      </p:sp>
      <p:sp>
        <p:nvSpPr>
          <p:cNvPr id="4" name="Text 2"/>
          <p:cNvSpPr txBox="1"/>
          <p:nvPr/>
        </p:nvSpPr>
        <p:spPr>
          <a:xfrm>
            <a:off x="868680" y="1828800"/>
            <a:ext cx="3017520" cy="365760"/>
          </a:xfrm>
          <a:prstGeom prst="rect">
            <a:avLst/>
          </a:prstGeom>
          <a:noFill/>
          <a:ln/>
        </p:spPr>
        <p:txBody>
          <a:bodyPr wrap="square" lIns="0" tIns="0" rIns="0" bIns="0" rtlCol="0" anchor="t"/>
          <a:lstStyle/>
          <a:p>
            <a:pPr marL="0" indent="0">
              <a:buNone/>
            </a:pPr>
            <a:r>
              <a:rPr lang="en-US" sz="1300" b="1" kern="0" spc="200" dirty="0">
                <a:solidFill>
                  <a:schemeClr val="accent3"/>
                </a:solidFill>
                <a:latin typeface="Calibri" pitchFamily="34" charset="0"/>
                <a:ea typeface="Calibri" pitchFamily="34" charset="-122"/>
                <a:cs typeface="Calibri" pitchFamily="34" charset="-120"/>
              </a:rPr>
              <a:t>IDEA CENTRAL</a:t>
            </a:r>
            <a:endParaRPr lang="en-US" sz="1300" dirty="0"/>
          </a:p>
        </p:txBody>
      </p:sp>
      <p:sp>
        <p:nvSpPr>
          <p:cNvPr id="5" name="Text 3"/>
          <p:cNvSpPr txBox="1"/>
          <p:nvPr/>
        </p:nvSpPr>
        <p:spPr>
          <a:xfrm>
            <a:off x="868680" y="2331720"/>
            <a:ext cx="3017520" cy="2743200"/>
          </a:xfrm>
          <a:prstGeom prst="rect">
            <a:avLst/>
          </a:prstGeom>
          <a:noFill/>
          <a:ln/>
        </p:spPr>
        <p:txBody>
          <a:bodyPr wrap="square" lIns="0" tIns="0" rIns="0" bIns="0" rtlCol="0" anchor="t"/>
          <a:lstStyle/>
          <a:p>
            <a:pPr marL="0" indent="0">
              <a:buNone/>
            </a:pPr>
            <a:r>
              <a:rPr lang="en-US" sz="2200" dirty="0">
                <a:solidFill>
                  <a:schemeClr val="bg1"/>
                </a:solidFill>
                <a:latin typeface="Cambria" pitchFamily="34" charset="0"/>
                <a:ea typeface="Cambria" pitchFamily="34" charset="-122"/>
                <a:cs typeface="Cambria" pitchFamily="34" charset="-120"/>
              </a:rPr>
              <a:t>La ciencia no solo suma descubrimientos: avanza por etapas discontinuas, separadas por momentos de ruptura.</a:t>
            </a:r>
            <a:endParaRPr lang="en-US" sz="2200" dirty="0"/>
          </a:p>
        </p:txBody>
      </p:sp>
      <p:sp>
        <p:nvSpPr>
          <p:cNvPr id="6" name="Text 4"/>
          <p:cNvSpPr txBox="1"/>
          <p:nvPr/>
        </p:nvSpPr>
        <p:spPr>
          <a:xfrm>
            <a:off x="868680" y="5440680"/>
            <a:ext cx="3017520" cy="365760"/>
          </a:xfrm>
          <a:prstGeom prst="rect">
            <a:avLst/>
          </a:prstGeom>
          <a:noFill/>
          <a:ln/>
        </p:spPr>
        <p:txBody>
          <a:bodyPr wrap="square" lIns="0" tIns="0" rIns="0" bIns="0" rtlCol="0" anchor="t"/>
          <a:lstStyle/>
          <a:p>
            <a:pPr marL="0" indent="0">
              <a:buNone/>
            </a:pPr>
            <a:r>
              <a:rPr lang="en-US" sz="1200" i="1" dirty="0">
                <a:solidFill>
                  <a:schemeClr val="accent6"/>
                </a:solidFill>
                <a:latin typeface="Calibri" pitchFamily="34" charset="0"/>
                <a:ea typeface="Calibri" pitchFamily="34" charset="-122"/>
                <a:cs typeface="Calibri" pitchFamily="34" charset="-120"/>
              </a:rPr>
              <a:t>Gadea et al. (2019)</a:t>
            </a:r>
            <a:endParaRPr lang="en-US" sz="1200" dirty="0"/>
          </a:p>
        </p:txBody>
      </p:sp>
      <p:sp>
        <p:nvSpPr>
          <p:cNvPr id="7" name="comparación 0"/>
          <p:cNvSpPr/>
          <p:nvPr/>
        </p:nvSpPr>
        <p:spPr>
          <a:xfrm>
            <a:off x="4480560" y="1554480"/>
            <a:ext cx="3429000" cy="4480560"/>
          </a:xfrm>
          <a:prstGeom prst="roundRect">
            <a:avLst>
              <a:gd name="adj" fmla="val 3200"/>
            </a:avLst>
          </a:prstGeom>
          <a:solidFill>
            <a:schemeClr val="bg2"/>
          </a:solidFill>
          <a:ln w="12700">
            <a:solidFill>
              <a:schemeClr val="bg2"/>
            </a:solidFill>
            <a:prstDash val="solid"/>
          </a:ln>
        </p:spPr>
      </p:sp>
      <p:sp>
        <p:nvSpPr>
          <p:cNvPr id="8" name="etiqueta 0"/>
          <p:cNvSpPr/>
          <p:nvPr/>
        </p:nvSpPr>
        <p:spPr>
          <a:xfrm>
            <a:off x="4754880" y="1828800"/>
            <a:ext cx="2880360" cy="594360"/>
          </a:xfrm>
          <a:prstGeom prst="roundRect">
            <a:avLst>
              <a:gd name="adj" fmla="val 15385"/>
            </a:avLst>
          </a:prstGeom>
          <a:solidFill>
            <a:schemeClr val="accent4"/>
          </a:solidFill>
          <a:ln w="12700">
            <a:solidFill>
              <a:schemeClr val="accent4"/>
            </a:solidFill>
            <a:prstDash val="solid"/>
          </a:ln>
        </p:spPr>
      </p:sp>
      <p:sp>
        <p:nvSpPr>
          <p:cNvPr id="9" name="Text 7"/>
          <p:cNvSpPr txBox="1"/>
          <p:nvPr/>
        </p:nvSpPr>
        <p:spPr>
          <a:xfrm>
            <a:off x="4754880" y="1828800"/>
            <a:ext cx="2880360" cy="59436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Modelo acumulativo</a:t>
            </a:r>
            <a:endParaRPr lang="en-US" sz="1800" dirty="0"/>
          </a:p>
        </p:txBody>
      </p:sp>
      <p:sp>
        <p:nvSpPr>
          <p:cNvPr id="10" name="Text 8"/>
          <p:cNvSpPr txBox="1"/>
          <p:nvPr/>
        </p:nvSpPr>
        <p:spPr>
          <a:xfrm>
            <a:off x="4754880" y="2743200"/>
            <a:ext cx="292608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Suma esfuerzos y descubrimientos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Descarta las teorías falsas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Progreso lineal hacia la verdad</a:t>
            </a:r>
            <a:endParaRPr lang="en-US" sz="1700" dirty="0"/>
          </a:p>
        </p:txBody>
      </p:sp>
      <p:sp>
        <p:nvSpPr>
          <p:cNvPr id="11" name="comparación 1"/>
          <p:cNvSpPr/>
          <p:nvPr/>
        </p:nvSpPr>
        <p:spPr>
          <a:xfrm>
            <a:off x="8092440" y="1554480"/>
            <a:ext cx="3429000" cy="4480560"/>
          </a:xfrm>
          <a:prstGeom prst="roundRect">
            <a:avLst>
              <a:gd name="adj" fmla="val 3200"/>
            </a:avLst>
          </a:prstGeom>
          <a:solidFill>
            <a:schemeClr val="bg2"/>
          </a:solidFill>
          <a:ln w="12700">
            <a:solidFill>
              <a:schemeClr val="bg2"/>
            </a:solidFill>
            <a:prstDash val="solid"/>
          </a:ln>
        </p:spPr>
      </p:sp>
      <p:sp>
        <p:nvSpPr>
          <p:cNvPr id="12" name="etiqueta 1"/>
          <p:cNvSpPr/>
          <p:nvPr/>
        </p:nvSpPr>
        <p:spPr>
          <a:xfrm>
            <a:off x="8366760" y="1828800"/>
            <a:ext cx="2880360" cy="594360"/>
          </a:xfrm>
          <a:prstGeom prst="roundRect">
            <a:avLst>
              <a:gd name="adj" fmla="val 15385"/>
            </a:avLst>
          </a:prstGeom>
          <a:solidFill>
            <a:schemeClr val="accent1"/>
          </a:solidFill>
          <a:ln w="12700">
            <a:solidFill>
              <a:schemeClr val="accent1"/>
            </a:solidFill>
            <a:prstDash val="solid"/>
          </a:ln>
        </p:spPr>
      </p:sp>
      <p:sp>
        <p:nvSpPr>
          <p:cNvPr id="13" name="Text 11"/>
          <p:cNvSpPr txBox="1"/>
          <p:nvPr/>
        </p:nvSpPr>
        <p:spPr>
          <a:xfrm>
            <a:off x="8366760" y="1828800"/>
            <a:ext cx="2880360" cy="59436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Modelo de Kuhn</a:t>
            </a:r>
            <a:endParaRPr lang="en-US" sz="1800" dirty="0"/>
          </a:p>
        </p:txBody>
      </p:sp>
      <p:sp>
        <p:nvSpPr>
          <p:cNvPr id="14" name="Text 12"/>
          <p:cNvSpPr txBox="1"/>
          <p:nvPr/>
        </p:nvSpPr>
        <p:spPr>
          <a:xfrm>
            <a:off x="8366760" y="2743200"/>
            <a:ext cx="292608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Etapas discontinuas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Rupturas entre paradigmas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Inconmensurabilidad: no se juzga el pasado con criterios actuales</a:t>
            </a:r>
            <a:endParaRPr lang="en-US" sz="17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El ciclo de una revolución científica</a:t>
            </a:r>
          </a:p>
        </p:txBody>
      </p:sp>
      <p:sp>
        <p:nvSpPr>
          <p:cNvPr id="3" name="paso 1"/>
          <p:cNvSpPr/>
          <p:nvPr/>
        </p:nvSpPr>
        <p:spPr>
          <a:xfrm>
            <a:off x="548640" y="1737360"/>
            <a:ext cx="2194560" cy="1097280"/>
          </a:xfrm>
          <a:prstGeom prst="homePlate">
            <a:avLst/>
          </a:prstGeom>
          <a:solidFill>
            <a:schemeClr val="accent4"/>
          </a:solidFill>
          <a:ln w="12700">
            <a:solidFill>
              <a:schemeClr val="accent4"/>
            </a:solidFill>
            <a:prstDash val="solid"/>
          </a:ln>
        </p:spPr>
      </p:sp>
      <p:sp>
        <p:nvSpPr>
          <p:cNvPr id="4" name="Text 2"/>
          <p:cNvSpPr txBox="1"/>
          <p:nvPr/>
        </p:nvSpPr>
        <p:spPr>
          <a:xfrm>
            <a:off x="685800" y="1737360"/>
            <a:ext cx="169164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1  Ciencia normal</a:t>
            </a:r>
            <a:endParaRPr lang="en-US" sz="1700" dirty="0"/>
          </a:p>
        </p:txBody>
      </p:sp>
      <p:sp>
        <p:nvSpPr>
          <p:cNvPr id="5" name="Text 3"/>
          <p:cNvSpPr txBox="1"/>
          <p:nvPr/>
        </p:nvSpPr>
        <p:spPr>
          <a:xfrm>
            <a:off x="548640" y="3063240"/>
            <a:ext cx="2057400" cy="17373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La comunidad resuelve enigmas dentro del paradigma.</a:t>
            </a:r>
            <a:endParaRPr lang="en-US" sz="1600" dirty="0"/>
          </a:p>
        </p:txBody>
      </p:sp>
      <p:sp>
        <p:nvSpPr>
          <p:cNvPr id="6" name="paso 2"/>
          <p:cNvSpPr/>
          <p:nvPr/>
        </p:nvSpPr>
        <p:spPr>
          <a:xfrm>
            <a:off x="2788920" y="1737360"/>
            <a:ext cx="2194560" cy="1097280"/>
          </a:xfrm>
          <a:prstGeom prst="homePlate">
            <a:avLst/>
          </a:prstGeom>
          <a:solidFill>
            <a:schemeClr val="accent3"/>
          </a:solidFill>
          <a:ln w="12700">
            <a:solidFill>
              <a:schemeClr val="accent3"/>
            </a:solidFill>
            <a:prstDash val="solid"/>
          </a:ln>
        </p:spPr>
      </p:sp>
      <p:sp>
        <p:nvSpPr>
          <p:cNvPr id="7" name="Text 5"/>
          <p:cNvSpPr txBox="1"/>
          <p:nvPr/>
        </p:nvSpPr>
        <p:spPr>
          <a:xfrm>
            <a:off x="2926080" y="1737360"/>
            <a:ext cx="169164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2  Anomalías</a:t>
            </a:r>
            <a:endParaRPr lang="en-US" sz="1700" dirty="0"/>
          </a:p>
        </p:txBody>
      </p:sp>
      <p:sp>
        <p:nvSpPr>
          <p:cNvPr id="8" name="Text 6"/>
          <p:cNvSpPr txBox="1"/>
          <p:nvPr/>
        </p:nvSpPr>
        <p:spPr>
          <a:xfrm>
            <a:off x="2788920" y="3063240"/>
            <a:ext cx="2057400" cy="17373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Aparecen problemas que el paradigma no explica y tiende a ignorar.</a:t>
            </a:r>
            <a:endParaRPr lang="en-US" sz="1600" dirty="0"/>
          </a:p>
        </p:txBody>
      </p:sp>
      <p:sp>
        <p:nvSpPr>
          <p:cNvPr id="9" name="paso 3"/>
          <p:cNvSpPr/>
          <p:nvPr/>
        </p:nvSpPr>
        <p:spPr>
          <a:xfrm>
            <a:off x="5029200" y="1737360"/>
            <a:ext cx="2194560" cy="1097280"/>
          </a:xfrm>
          <a:prstGeom prst="homePlate">
            <a:avLst/>
          </a:prstGeom>
          <a:solidFill>
            <a:schemeClr val="accent2"/>
          </a:solidFill>
          <a:ln w="12700">
            <a:solidFill>
              <a:schemeClr val="accent2"/>
            </a:solidFill>
            <a:prstDash val="solid"/>
          </a:ln>
        </p:spPr>
      </p:sp>
      <p:sp>
        <p:nvSpPr>
          <p:cNvPr id="10" name="Text 8"/>
          <p:cNvSpPr txBox="1"/>
          <p:nvPr/>
        </p:nvSpPr>
        <p:spPr>
          <a:xfrm>
            <a:off x="5166360" y="1737360"/>
            <a:ext cx="169164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3  Crisis</a:t>
            </a:r>
            <a:endParaRPr lang="en-US" sz="1700" dirty="0"/>
          </a:p>
        </p:txBody>
      </p:sp>
      <p:sp>
        <p:nvSpPr>
          <p:cNvPr id="11" name="Text 9"/>
          <p:cNvSpPr txBox="1"/>
          <p:nvPr/>
        </p:nvSpPr>
        <p:spPr>
          <a:xfrm>
            <a:off x="5029200" y="3063240"/>
            <a:ext cx="2057400" cy="17373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Las anomalías se reconocen y se cuestiona el paradigma.</a:t>
            </a:r>
            <a:endParaRPr lang="en-US" sz="1600" dirty="0"/>
          </a:p>
        </p:txBody>
      </p:sp>
      <p:sp>
        <p:nvSpPr>
          <p:cNvPr id="12" name="paso 4"/>
          <p:cNvSpPr/>
          <p:nvPr/>
        </p:nvSpPr>
        <p:spPr>
          <a:xfrm>
            <a:off x="7269480" y="1737360"/>
            <a:ext cx="2194560" cy="1097280"/>
          </a:xfrm>
          <a:prstGeom prst="homePlate">
            <a:avLst/>
          </a:prstGeom>
          <a:solidFill>
            <a:schemeClr val="accent5"/>
          </a:solidFill>
          <a:ln w="12700">
            <a:solidFill>
              <a:schemeClr val="accent5"/>
            </a:solidFill>
            <a:prstDash val="solid"/>
          </a:ln>
        </p:spPr>
      </p:sp>
      <p:sp>
        <p:nvSpPr>
          <p:cNvPr id="13" name="Text 11"/>
          <p:cNvSpPr txBox="1"/>
          <p:nvPr/>
        </p:nvSpPr>
        <p:spPr>
          <a:xfrm>
            <a:off x="7406640" y="1737360"/>
            <a:ext cx="169164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4  Revolución</a:t>
            </a:r>
            <a:endParaRPr lang="en-US" sz="1700" dirty="0"/>
          </a:p>
        </p:txBody>
      </p:sp>
      <p:sp>
        <p:nvSpPr>
          <p:cNvPr id="14" name="Text 12"/>
          <p:cNvSpPr txBox="1"/>
          <p:nvPr/>
        </p:nvSpPr>
        <p:spPr>
          <a:xfrm>
            <a:off x="7269480" y="3063240"/>
            <a:ext cx="2057400" cy="17373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Ruptura: otro paradigma sustituye al anterior.</a:t>
            </a:r>
            <a:endParaRPr lang="en-US" sz="1600" dirty="0"/>
          </a:p>
        </p:txBody>
      </p:sp>
      <p:sp>
        <p:nvSpPr>
          <p:cNvPr id="15" name="paso 5"/>
          <p:cNvSpPr/>
          <p:nvPr/>
        </p:nvSpPr>
        <p:spPr>
          <a:xfrm>
            <a:off x="9509760" y="1737360"/>
            <a:ext cx="2194560" cy="1097280"/>
          </a:xfrm>
          <a:prstGeom prst="homePlate">
            <a:avLst/>
          </a:prstGeom>
          <a:solidFill>
            <a:schemeClr val="accent1"/>
          </a:solidFill>
          <a:ln w="12700">
            <a:solidFill>
              <a:schemeClr val="accent1"/>
            </a:solidFill>
            <a:prstDash val="solid"/>
          </a:ln>
        </p:spPr>
      </p:sp>
      <p:sp>
        <p:nvSpPr>
          <p:cNvPr id="16" name="Text 14"/>
          <p:cNvSpPr txBox="1"/>
          <p:nvPr/>
        </p:nvSpPr>
        <p:spPr>
          <a:xfrm>
            <a:off x="9646920" y="1737360"/>
            <a:ext cx="169164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5  Nuevo paradigma</a:t>
            </a:r>
            <a:endParaRPr lang="en-US" sz="1700" dirty="0"/>
          </a:p>
        </p:txBody>
      </p:sp>
      <p:sp>
        <p:nvSpPr>
          <p:cNvPr id="17" name="Text 15"/>
          <p:cNvSpPr txBox="1"/>
          <p:nvPr/>
        </p:nvSpPr>
        <p:spPr>
          <a:xfrm>
            <a:off x="9509760" y="3063240"/>
            <a:ext cx="2057400" cy="17373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Se instala una nueva ciencia normal y el ciclo se repite.</a:t>
            </a:r>
            <a:endParaRPr lang="en-US" sz="1600" dirty="0"/>
          </a:p>
        </p:txBody>
      </p:sp>
      <p:sp>
        <p:nvSpPr>
          <p:cNvPr id="18" name="nota del ciclo"/>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sp>
      <p:sp>
        <p:nvSpPr>
          <p:cNvPr id="19" name="Text 17"/>
          <p:cNvSpPr txBox="1"/>
          <p:nvPr/>
        </p:nvSpPr>
        <p:spPr>
          <a:xfrm>
            <a:off x="822960" y="5029200"/>
            <a:ext cx="10515600" cy="1005840"/>
          </a:xfrm>
          <a:prstGeom prst="rect">
            <a:avLst/>
          </a:prstGeom>
          <a:noFill/>
          <a:ln/>
        </p:spPr>
        <p:txBody>
          <a:bodyPr wrap="square" lIns="0" tIns="0" rIns="0" bIns="0" rtlCol="0" anchor="ctr"/>
          <a:lstStyle/>
          <a:p>
            <a:pPr marL="0" indent="0">
              <a:buNone/>
            </a:pPr>
            <a:r>
              <a:rPr lang="en-US" sz="1800" i="1" dirty="0">
                <a:solidFill>
                  <a:schemeClr val="tx2"/>
                </a:solidFill>
                <a:latin typeface="Calibri" pitchFamily="34" charset="0"/>
                <a:ea typeface="Calibri" pitchFamily="34" charset="-122"/>
                <a:cs typeface="Calibri" pitchFamily="34" charset="-120"/>
              </a:rPr>
              <a:t>Después de la revolución comienza un nuevo período de ciencia normal. El ciclo se reinicia con el nuevo paradigma.</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Cuatro conceptos clave de Kuhn</a:t>
            </a:r>
          </a:p>
        </p:txBody>
      </p:sp>
      <p:sp>
        <p:nvSpPr>
          <p:cNvPr id="3" name="concepto Paradigma"/>
          <p:cNvSpPr/>
          <p:nvPr/>
        </p:nvSpPr>
        <p:spPr>
          <a:xfrm>
            <a:off x="548640" y="1554480"/>
            <a:ext cx="5440680" cy="2103120"/>
          </a:xfrm>
          <a:prstGeom prst="roundRect">
            <a:avLst>
              <a:gd name="adj" fmla="val 5217"/>
            </a:avLst>
          </a:prstGeom>
          <a:solidFill>
            <a:schemeClr val="bg2"/>
          </a:solidFill>
          <a:ln w="12700">
            <a:solidFill>
              <a:schemeClr val="bg2"/>
            </a:solidFill>
            <a:prstDash val="solid"/>
          </a:ln>
        </p:spPr>
      </p:sp>
      <p:sp>
        <p:nvSpPr>
          <p:cNvPr id="4" name="marca Paradigma"/>
          <p:cNvSpPr/>
          <p:nvPr/>
        </p:nvSpPr>
        <p:spPr>
          <a:xfrm>
            <a:off x="822960" y="1828800"/>
            <a:ext cx="320040" cy="320040"/>
          </a:xfrm>
          <a:prstGeom prst="ellipse">
            <a:avLst/>
          </a:prstGeom>
          <a:solidFill>
            <a:schemeClr val="accent1"/>
          </a:solidFill>
          <a:ln w="12700">
            <a:solidFill>
              <a:schemeClr val="accent1"/>
            </a:solidFill>
            <a:prstDash val="solid"/>
          </a:ln>
        </p:spPr>
      </p:sp>
      <p:sp>
        <p:nvSpPr>
          <p:cNvPr id="5" name="Text 3"/>
          <p:cNvSpPr txBox="1"/>
          <p:nvPr/>
        </p:nvSpPr>
        <p:spPr>
          <a:xfrm>
            <a:off x="1325880" y="1755648"/>
            <a:ext cx="438912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Paradigma</a:t>
            </a:r>
            <a:endParaRPr lang="en-US" sz="2200" dirty="0"/>
          </a:p>
        </p:txBody>
      </p:sp>
      <p:sp>
        <p:nvSpPr>
          <p:cNvPr id="6" name="Text 4"/>
          <p:cNvSpPr txBox="1"/>
          <p:nvPr/>
        </p:nvSpPr>
        <p:spPr>
          <a:xfrm>
            <a:off x="822960" y="2423160"/>
            <a:ext cx="4937760" cy="11430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Conjunto de creencias que sirve de marco para la práctica de una comunidad científica en un momento histórico.</a:t>
            </a:r>
            <a:endParaRPr lang="en-US" sz="1600" dirty="0"/>
          </a:p>
        </p:txBody>
      </p:sp>
      <p:sp>
        <p:nvSpPr>
          <p:cNvPr id="7" name="concepto Ciencia normal"/>
          <p:cNvSpPr/>
          <p:nvPr/>
        </p:nvSpPr>
        <p:spPr>
          <a:xfrm>
            <a:off x="6172200" y="1554480"/>
            <a:ext cx="5440680" cy="2103120"/>
          </a:xfrm>
          <a:prstGeom prst="roundRect">
            <a:avLst>
              <a:gd name="adj" fmla="val 5217"/>
            </a:avLst>
          </a:prstGeom>
          <a:solidFill>
            <a:schemeClr val="bg2"/>
          </a:solidFill>
          <a:ln w="12700">
            <a:solidFill>
              <a:schemeClr val="bg2"/>
            </a:solidFill>
            <a:prstDash val="solid"/>
          </a:ln>
        </p:spPr>
      </p:sp>
      <p:sp>
        <p:nvSpPr>
          <p:cNvPr id="8" name="marca Ciencia normal"/>
          <p:cNvSpPr/>
          <p:nvPr/>
        </p:nvSpPr>
        <p:spPr>
          <a:xfrm>
            <a:off x="6446520" y="1828800"/>
            <a:ext cx="320040" cy="320040"/>
          </a:xfrm>
          <a:prstGeom prst="ellipse">
            <a:avLst/>
          </a:prstGeom>
          <a:solidFill>
            <a:schemeClr val="accent5"/>
          </a:solidFill>
          <a:ln w="12700">
            <a:solidFill>
              <a:schemeClr val="accent5"/>
            </a:solidFill>
            <a:prstDash val="solid"/>
          </a:ln>
        </p:spPr>
      </p:sp>
      <p:sp>
        <p:nvSpPr>
          <p:cNvPr id="9" name="Text 7"/>
          <p:cNvSpPr txBox="1"/>
          <p:nvPr/>
        </p:nvSpPr>
        <p:spPr>
          <a:xfrm>
            <a:off x="6949440" y="1755648"/>
            <a:ext cx="438912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Ciencia normal</a:t>
            </a:r>
            <a:endParaRPr lang="en-US" sz="2200" dirty="0"/>
          </a:p>
        </p:txBody>
      </p:sp>
      <p:sp>
        <p:nvSpPr>
          <p:cNvPr id="10" name="Text 8"/>
          <p:cNvSpPr txBox="1"/>
          <p:nvPr/>
        </p:nvSpPr>
        <p:spPr>
          <a:xfrm>
            <a:off x="6446520" y="2423160"/>
            <a:ext cx="4937760" cy="11430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Esfuerzo por desarrollar el paradigma: resolver sus enigmas. Lo que no encaja suele ni siquiera verse.</a:t>
            </a:r>
            <a:endParaRPr lang="en-US" sz="1600" dirty="0"/>
          </a:p>
        </p:txBody>
      </p:sp>
      <p:sp>
        <p:nvSpPr>
          <p:cNvPr id="11" name="concepto Anomalía"/>
          <p:cNvSpPr/>
          <p:nvPr/>
        </p:nvSpPr>
        <p:spPr>
          <a:xfrm>
            <a:off x="548640" y="3840480"/>
            <a:ext cx="5440680" cy="2103120"/>
          </a:xfrm>
          <a:prstGeom prst="roundRect">
            <a:avLst>
              <a:gd name="adj" fmla="val 5217"/>
            </a:avLst>
          </a:prstGeom>
          <a:solidFill>
            <a:schemeClr val="bg2"/>
          </a:solidFill>
          <a:ln w="12700">
            <a:solidFill>
              <a:schemeClr val="bg2"/>
            </a:solidFill>
            <a:prstDash val="solid"/>
          </a:ln>
        </p:spPr>
      </p:sp>
      <p:sp>
        <p:nvSpPr>
          <p:cNvPr id="12" name="marca Anomalía"/>
          <p:cNvSpPr/>
          <p:nvPr/>
        </p:nvSpPr>
        <p:spPr>
          <a:xfrm>
            <a:off x="822960" y="4114800"/>
            <a:ext cx="320040" cy="320040"/>
          </a:xfrm>
          <a:prstGeom prst="ellipse">
            <a:avLst/>
          </a:prstGeom>
          <a:solidFill>
            <a:schemeClr val="accent3"/>
          </a:solidFill>
          <a:ln w="12700">
            <a:solidFill>
              <a:schemeClr val="accent3"/>
            </a:solidFill>
            <a:prstDash val="solid"/>
          </a:ln>
        </p:spPr>
      </p:sp>
      <p:sp>
        <p:nvSpPr>
          <p:cNvPr id="13" name="Text 11"/>
          <p:cNvSpPr txBox="1"/>
          <p:nvPr/>
        </p:nvSpPr>
        <p:spPr>
          <a:xfrm>
            <a:off x="1325880" y="4041648"/>
            <a:ext cx="438912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Anomalía</a:t>
            </a:r>
            <a:endParaRPr lang="en-US" sz="2200" dirty="0"/>
          </a:p>
        </p:txBody>
      </p:sp>
      <p:sp>
        <p:nvSpPr>
          <p:cNvPr id="14" name="Text 12"/>
          <p:cNvSpPr txBox="1"/>
          <p:nvPr/>
        </p:nvSpPr>
        <p:spPr>
          <a:xfrm>
            <a:off x="822960" y="4709160"/>
            <a:ext cx="4937760" cy="11430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Problema que el paradigma no resuelve. Su reconocimiento abre una crisis que puede terminar en revolución.</a:t>
            </a:r>
            <a:endParaRPr lang="en-US" sz="1600" dirty="0"/>
          </a:p>
        </p:txBody>
      </p:sp>
      <p:sp>
        <p:nvSpPr>
          <p:cNvPr id="15" name="concepto Inconmensurabilidad"/>
          <p:cNvSpPr/>
          <p:nvPr/>
        </p:nvSpPr>
        <p:spPr>
          <a:xfrm>
            <a:off x="6172200" y="3840480"/>
            <a:ext cx="5440680" cy="2103120"/>
          </a:xfrm>
          <a:prstGeom prst="roundRect">
            <a:avLst>
              <a:gd name="adj" fmla="val 5217"/>
            </a:avLst>
          </a:prstGeom>
          <a:solidFill>
            <a:schemeClr val="bg2"/>
          </a:solidFill>
          <a:ln w="12700">
            <a:solidFill>
              <a:schemeClr val="bg2"/>
            </a:solidFill>
            <a:prstDash val="solid"/>
          </a:ln>
        </p:spPr>
      </p:sp>
      <p:sp>
        <p:nvSpPr>
          <p:cNvPr id="16" name="marca Inconmensurabilidad"/>
          <p:cNvSpPr/>
          <p:nvPr/>
        </p:nvSpPr>
        <p:spPr>
          <a:xfrm>
            <a:off x="6446520" y="4114800"/>
            <a:ext cx="320040" cy="320040"/>
          </a:xfrm>
          <a:prstGeom prst="ellipse">
            <a:avLst/>
          </a:prstGeom>
          <a:solidFill>
            <a:schemeClr val="accent2"/>
          </a:solidFill>
          <a:ln w="12700">
            <a:solidFill>
              <a:schemeClr val="accent2"/>
            </a:solidFill>
            <a:prstDash val="solid"/>
          </a:ln>
        </p:spPr>
      </p:sp>
      <p:sp>
        <p:nvSpPr>
          <p:cNvPr id="17" name="Text 15"/>
          <p:cNvSpPr txBox="1"/>
          <p:nvPr/>
        </p:nvSpPr>
        <p:spPr>
          <a:xfrm>
            <a:off x="6949440" y="4041648"/>
            <a:ext cx="438912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Inconmensurabilidad</a:t>
            </a:r>
            <a:endParaRPr lang="en-US" sz="2200" dirty="0"/>
          </a:p>
        </p:txBody>
      </p:sp>
      <p:sp>
        <p:nvSpPr>
          <p:cNvPr id="18" name="Text 16"/>
          <p:cNvSpPr txBox="1"/>
          <p:nvPr/>
        </p:nvSpPr>
        <p:spPr>
          <a:xfrm>
            <a:off x="6446520" y="4709160"/>
            <a:ext cx="4937760" cy="11430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Cada paradigma organiza la experiencia de otro modo. El cambio se parece a una reestructuración gestáltica.</a:t>
            </a:r>
            <a:endParaRPr lang="en-US" sz="1600" dirty="0"/>
          </a:p>
        </p:txBody>
      </p:sp>
      <p:sp>
        <p:nvSpPr>
          <p:cNvPr id="19" name="Text 17"/>
          <p:cNvSpPr txBox="1"/>
          <p:nvPr/>
        </p:nvSpPr>
        <p:spPr>
          <a:xfrm>
            <a:off x="548640" y="6172200"/>
            <a:ext cx="7315200" cy="228600"/>
          </a:xfrm>
          <a:prstGeom prst="rect">
            <a:avLst/>
          </a:prstGeom>
          <a:noFill/>
          <a:ln/>
        </p:spPr>
        <p:txBody>
          <a:bodyPr wrap="square" lIns="0" tIns="0" rIns="0" bIns="0" rtlCol="0" anchor="t"/>
          <a:lstStyle/>
          <a:p>
            <a:pPr marL="0" indent="0">
              <a:buNone/>
            </a:pPr>
            <a:r>
              <a:rPr lang="en-US" sz="1100" i="1" dirty="0">
                <a:solidFill>
                  <a:schemeClr val="accent4"/>
                </a:solidFill>
                <a:latin typeface="Calibri" pitchFamily="34" charset="0"/>
                <a:ea typeface="Calibri" pitchFamily="34" charset="-122"/>
                <a:cs typeface="Calibri" pitchFamily="34" charset="-120"/>
              </a:rPr>
              <a:t>Fuente: Gadea et al. (2019), sobre Kuhn (2017)</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Lectura crítica de la teoría</a:t>
            </a:r>
          </a:p>
        </p:txBody>
      </p:sp>
      <p:sp>
        <p:nvSpPr>
          <p:cNvPr id="3" name="fila Aporte"/>
          <p:cNvSpPr/>
          <p:nvPr/>
        </p:nvSpPr>
        <p:spPr>
          <a:xfrm>
            <a:off x="548640" y="1508760"/>
            <a:ext cx="11064240" cy="1024128"/>
          </a:xfrm>
          <a:prstGeom prst="roundRect">
            <a:avLst>
              <a:gd name="adj" fmla="val 10714"/>
            </a:avLst>
          </a:prstGeom>
          <a:solidFill>
            <a:schemeClr val="bg2"/>
          </a:solidFill>
          <a:ln w="12700">
            <a:solidFill>
              <a:schemeClr val="bg2"/>
            </a:solidFill>
            <a:prstDash val="solid"/>
          </a:ln>
        </p:spPr>
      </p:sp>
      <p:sp>
        <p:nvSpPr>
          <p:cNvPr id="4" name="etiqueta Aporte"/>
          <p:cNvSpPr/>
          <p:nvPr/>
        </p:nvSpPr>
        <p:spPr>
          <a:xfrm>
            <a:off x="731520" y="1709928"/>
            <a:ext cx="1737360" cy="621792"/>
          </a:xfrm>
          <a:prstGeom prst="roundRect">
            <a:avLst>
              <a:gd name="adj" fmla="val 14706"/>
            </a:avLst>
          </a:prstGeom>
          <a:solidFill>
            <a:schemeClr val="accent1"/>
          </a:solidFill>
          <a:ln w="12700">
            <a:solidFill>
              <a:schemeClr val="accent1"/>
            </a:solidFill>
            <a:prstDash val="solid"/>
          </a:ln>
        </p:spPr>
      </p:sp>
      <p:sp>
        <p:nvSpPr>
          <p:cNvPr id="5" name="Text 3"/>
          <p:cNvSpPr txBox="1"/>
          <p:nvPr/>
        </p:nvSpPr>
        <p:spPr>
          <a:xfrm>
            <a:off x="731520" y="1709928"/>
            <a:ext cx="1737360" cy="621792"/>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Aporte</a:t>
            </a:r>
            <a:endParaRPr lang="en-US" sz="1800" dirty="0"/>
          </a:p>
        </p:txBody>
      </p:sp>
      <p:sp>
        <p:nvSpPr>
          <p:cNvPr id="6" name="Text 4"/>
          <p:cNvSpPr txBox="1"/>
          <p:nvPr/>
        </p:nvSpPr>
        <p:spPr>
          <a:xfrm>
            <a:off x="2743200" y="1508760"/>
            <a:ext cx="8595360" cy="1024128"/>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Da importancia epistemológica al contexto histórico y social de la comunidad científica, que la visión tradicional ignoraba.</a:t>
            </a:r>
            <a:endParaRPr lang="en-US" sz="1700" dirty="0"/>
          </a:p>
        </p:txBody>
      </p:sp>
      <p:sp>
        <p:nvSpPr>
          <p:cNvPr id="7" name="fila Límite"/>
          <p:cNvSpPr/>
          <p:nvPr/>
        </p:nvSpPr>
        <p:spPr>
          <a:xfrm>
            <a:off x="548640" y="2679192"/>
            <a:ext cx="11064240" cy="1024128"/>
          </a:xfrm>
          <a:prstGeom prst="roundRect">
            <a:avLst>
              <a:gd name="adj" fmla="val 10714"/>
            </a:avLst>
          </a:prstGeom>
          <a:solidFill>
            <a:schemeClr val="bg2"/>
          </a:solidFill>
          <a:ln w="12700">
            <a:solidFill>
              <a:schemeClr val="bg2"/>
            </a:solidFill>
            <a:prstDash val="solid"/>
          </a:ln>
        </p:spPr>
      </p:sp>
      <p:sp>
        <p:nvSpPr>
          <p:cNvPr id="8" name="etiqueta Límite"/>
          <p:cNvSpPr/>
          <p:nvPr/>
        </p:nvSpPr>
        <p:spPr>
          <a:xfrm>
            <a:off x="731520" y="2880360"/>
            <a:ext cx="1737360" cy="621792"/>
          </a:xfrm>
          <a:prstGeom prst="roundRect">
            <a:avLst>
              <a:gd name="adj" fmla="val 14706"/>
            </a:avLst>
          </a:prstGeom>
          <a:solidFill>
            <a:schemeClr val="accent2"/>
          </a:solidFill>
          <a:ln w="12700">
            <a:solidFill>
              <a:schemeClr val="accent2"/>
            </a:solidFill>
            <a:prstDash val="solid"/>
          </a:ln>
        </p:spPr>
      </p:sp>
      <p:sp>
        <p:nvSpPr>
          <p:cNvPr id="9" name="Text 7"/>
          <p:cNvSpPr txBox="1"/>
          <p:nvPr/>
        </p:nvSpPr>
        <p:spPr>
          <a:xfrm>
            <a:off x="731520" y="2880360"/>
            <a:ext cx="1737360" cy="621792"/>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Límite</a:t>
            </a:r>
            <a:endParaRPr lang="en-US" sz="1800" dirty="0"/>
          </a:p>
        </p:txBody>
      </p:sp>
      <p:sp>
        <p:nvSpPr>
          <p:cNvPr id="10" name="Text 8"/>
          <p:cNvSpPr txBox="1"/>
          <p:nvPr/>
        </p:nvSpPr>
        <p:spPr>
          <a:xfrm>
            <a:off x="2743200" y="2679192"/>
            <a:ext cx="8595360" cy="1024128"/>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El concepto de paradigma es impreciso. El propio Kuhn lo revisó, con resultados no siempre satisfactorios para sus críticos.</a:t>
            </a:r>
            <a:endParaRPr lang="en-US" sz="1700" dirty="0"/>
          </a:p>
        </p:txBody>
      </p:sp>
      <p:sp>
        <p:nvSpPr>
          <p:cNvPr id="11" name="fila Contraste"/>
          <p:cNvSpPr/>
          <p:nvPr/>
        </p:nvSpPr>
        <p:spPr>
          <a:xfrm>
            <a:off x="548640" y="3849624"/>
            <a:ext cx="11064240" cy="1024128"/>
          </a:xfrm>
          <a:prstGeom prst="roundRect">
            <a:avLst>
              <a:gd name="adj" fmla="val 10714"/>
            </a:avLst>
          </a:prstGeom>
          <a:solidFill>
            <a:schemeClr val="bg2"/>
          </a:solidFill>
          <a:ln w="12700">
            <a:solidFill>
              <a:schemeClr val="bg2"/>
            </a:solidFill>
            <a:prstDash val="solid"/>
          </a:ln>
        </p:spPr>
      </p:sp>
      <p:sp>
        <p:nvSpPr>
          <p:cNvPr id="12" name="etiqueta Contraste"/>
          <p:cNvSpPr/>
          <p:nvPr/>
        </p:nvSpPr>
        <p:spPr>
          <a:xfrm>
            <a:off x="731520" y="4050792"/>
            <a:ext cx="1737360" cy="621792"/>
          </a:xfrm>
          <a:prstGeom prst="roundRect">
            <a:avLst>
              <a:gd name="adj" fmla="val 14706"/>
            </a:avLst>
          </a:prstGeom>
          <a:solidFill>
            <a:schemeClr val="accent5"/>
          </a:solidFill>
          <a:ln w="12700">
            <a:solidFill>
              <a:schemeClr val="accent5"/>
            </a:solidFill>
            <a:prstDash val="solid"/>
          </a:ln>
        </p:spPr>
      </p:sp>
      <p:sp>
        <p:nvSpPr>
          <p:cNvPr id="13" name="Text 11"/>
          <p:cNvSpPr txBox="1"/>
          <p:nvPr/>
        </p:nvSpPr>
        <p:spPr>
          <a:xfrm>
            <a:off x="731520" y="4050792"/>
            <a:ext cx="1737360" cy="621792"/>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Contraste</a:t>
            </a:r>
            <a:endParaRPr lang="en-US" sz="1800" dirty="0"/>
          </a:p>
        </p:txBody>
      </p:sp>
      <p:sp>
        <p:nvSpPr>
          <p:cNvPr id="14" name="Text 12"/>
          <p:cNvSpPr txBox="1"/>
          <p:nvPr/>
        </p:nvSpPr>
        <p:spPr>
          <a:xfrm>
            <a:off x="2743200" y="3849624"/>
            <a:ext cx="8595360" cy="1024128"/>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Lakatos parte de una normatividad previa; Kuhn describe la práctica científica real a partir de la historia.</a:t>
            </a:r>
            <a:endParaRPr lang="en-US" sz="1700" dirty="0"/>
          </a:p>
        </p:txBody>
      </p:sp>
      <p:sp>
        <p:nvSpPr>
          <p:cNvPr id="15" name="fila Cautela"/>
          <p:cNvSpPr/>
          <p:nvPr/>
        </p:nvSpPr>
        <p:spPr>
          <a:xfrm>
            <a:off x="548640" y="5020056"/>
            <a:ext cx="11064240" cy="1024128"/>
          </a:xfrm>
          <a:prstGeom prst="roundRect">
            <a:avLst>
              <a:gd name="adj" fmla="val 10714"/>
            </a:avLst>
          </a:prstGeom>
          <a:solidFill>
            <a:schemeClr val="bg2"/>
          </a:solidFill>
          <a:ln w="12700">
            <a:solidFill>
              <a:schemeClr val="bg2"/>
            </a:solidFill>
            <a:prstDash val="solid"/>
          </a:ln>
        </p:spPr>
      </p:sp>
      <p:sp>
        <p:nvSpPr>
          <p:cNvPr id="16" name="etiqueta Cautela"/>
          <p:cNvSpPr/>
          <p:nvPr/>
        </p:nvSpPr>
        <p:spPr>
          <a:xfrm>
            <a:off x="731520" y="5221224"/>
            <a:ext cx="1737360" cy="621792"/>
          </a:xfrm>
          <a:prstGeom prst="roundRect">
            <a:avLst>
              <a:gd name="adj" fmla="val 14706"/>
            </a:avLst>
          </a:prstGeom>
          <a:solidFill>
            <a:schemeClr val="accent3"/>
          </a:solidFill>
          <a:ln w="12700">
            <a:solidFill>
              <a:schemeClr val="accent3"/>
            </a:solidFill>
            <a:prstDash val="solid"/>
          </a:ln>
        </p:spPr>
      </p:sp>
      <p:sp>
        <p:nvSpPr>
          <p:cNvPr id="17" name="Text 15"/>
          <p:cNvSpPr txBox="1"/>
          <p:nvPr/>
        </p:nvSpPr>
        <p:spPr>
          <a:xfrm>
            <a:off x="731520" y="5221224"/>
            <a:ext cx="1737360" cy="621792"/>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Cautela</a:t>
            </a:r>
            <a:endParaRPr lang="en-US" sz="1800" dirty="0"/>
          </a:p>
        </p:txBody>
      </p:sp>
      <p:sp>
        <p:nvSpPr>
          <p:cNvPr id="18" name="Text 16"/>
          <p:cNvSpPr txBox="1"/>
          <p:nvPr/>
        </p:nvSpPr>
        <p:spPr>
          <a:xfrm>
            <a:off x="2743200" y="5020056"/>
            <a:ext cx="8595360" cy="1024128"/>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Kuhn estudió las ciencias naturales. Aplicarlo a la ingeniería de software es una analogía, no una prueba.</a:t>
            </a:r>
            <a:endParaRPr lang="en-US" sz="17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Kuhn en la seguridad del software</a:t>
            </a: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434840"/>
        </p:xfrm>
        <a:graphic>
          <a:graphicData uri="http://schemas.openxmlformats.org/drawingml/2006/table">
            <a:tbl>
              <a:tblPr/>
              <a:tblGrid>
                <a:gridCol w="274320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502920">
                <a:tc>
                  <a:txBody>
                    <a:bodyPr/>
                    <a:lstStyle/>
                    <a:p>
                      <a:pPr marL="0" indent="0">
                        <a:buNone/>
                      </a:pPr>
                      <a:r>
                        <a:rPr lang="en-US" sz="1600" b="1" dirty="0">
                          <a:solidFill>
                            <a:schemeClr val="bg1"/>
                          </a:solidFill>
                          <a:latin typeface="Calibri" pitchFamily="34" charset="0"/>
                          <a:ea typeface="Calibri" pitchFamily="34" charset="-122"/>
                          <a:cs typeface="Calibri" pitchFamily="34" charset="-120"/>
                        </a:rPr>
                        <a:t>Concepto de Kuhn</a:t>
                      </a:r>
                      <a:endParaRPr lang="en-US" sz="1600" dirty="0">
                        <a:latin typeface="Calibri" charset="0"/>
                        <a:ea typeface="Calibri" charset="0"/>
                        <a:cs typeface="Calibri" charset="0"/>
                      </a:endParaRPr>
                    </a:p>
                  </a:txBody>
                  <a:tcPr marL="109728" marR="109728"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1"/>
                    </a:solidFill>
                  </a:tcPr>
                </a:tc>
                <a:tc>
                  <a:txBody>
                    <a:bodyPr/>
                    <a:lstStyle/>
                    <a:p>
                      <a:pPr marL="0" indent="0">
                        <a:buNone/>
                      </a:pPr>
                      <a:r>
                        <a:rPr lang="en-US" sz="1600" b="1" dirty="0">
                          <a:solidFill>
                            <a:schemeClr val="bg1"/>
                          </a:solidFill>
                          <a:latin typeface="Calibri" pitchFamily="34" charset="0"/>
                          <a:ea typeface="Calibri" pitchFamily="34" charset="-122"/>
                          <a:cs typeface="Calibri" pitchFamily="34" charset="-120"/>
                        </a:rPr>
                        <a:t>En la seguridad del software</a:t>
                      </a:r>
                      <a:endParaRPr lang="en-US" sz="1600" dirty="0">
                        <a:latin typeface="Calibri" charset="0"/>
                        <a:ea typeface="Calibri" charset="0"/>
                        <a:cs typeface="Calibri" charset="0"/>
                      </a:endParaRPr>
                    </a:p>
                  </a:txBody>
                  <a:tcPr marL="109728" marR="109728"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731520">
                <a:tc>
                  <a:txBody>
                    <a:bodyPr/>
                    <a:lstStyle/>
                    <a:p>
                      <a:pPr marL="0" indent="0">
                        <a:buNone/>
                      </a:pPr>
                      <a:r>
                        <a:rPr lang="en-US" sz="1600" b="1" dirty="0">
                          <a:solidFill>
                            <a:srgbClr val="1F7A6D"/>
                          </a:solidFill>
                          <a:latin typeface="Calibri" pitchFamily="34" charset="0"/>
                          <a:ea typeface="Calibri" pitchFamily="34" charset="-122"/>
                          <a:cs typeface="Calibri" pitchFamily="34" charset="-120"/>
                        </a:rPr>
                        <a:t>Paradigma vigente</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marL="0" indent="0">
                        <a:buNone/>
                      </a:pPr>
                      <a:r>
                        <a:rPr lang="en-US" sz="1600" dirty="0">
                          <a:solidFill>
                            <a:srgbClr val="1B2A41"/>
                          </a:solidFill>
                          <a:latin typeface="Calibri" pitchFamily="34" charset="0"/>
                          <a:ea typeface="Calibri" pitchFamily="34" charset="-122"/>
                          <a:cs typeface="Calibri" pitchFamily="34" charset="-120"/>
                        </a:rPr>
                        <a:t>Seguridad perimetral y revisión de seguridad al final del proyecto.</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600" b="1" dirty="0">
                          <a:solidFill>
                            <a:srgbClr val="D99A1E"/>
                          </a:solidFill>
                          <a:latin typeface="Calibri" pitchFamily="34" charset="0"/>
                          <a:ea typeface="Calibri" pitchFamily="34" charset="-122"/>
                          <a:cs typeface="Calibri" pitchFamily="34" charset="-120"/>
                        </a:rPr>
                        <a:t>Anomalías</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marL="0" indent="0">
                        <a:buNone/>
                      </a:pPr>
                      <a:r>
                        <a:rPr lang="en-US" sz="1600" dirty="0">
                          <a:solidFill>
                            <a:srgbClr val="1B2A41"/>
                          </a:solidFill>
                          <a:latin typeface="Calibri" pitchFamily="34" charset="0"/>
                          <a:ea typeface="Calibri" pitchFamily="34" charset="-122"/>
                          <a:cs typeface="Calibri" pitchFamily="34" charset="-120"/>
                        </a:rPr>
                        <a:t>La explotación de vulnerabilidades pasa a ser el vector inicial más frecuente (Verizon, 2026).</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600" b="1" dirty="0">
                          <a:solidFill>
                            <a:srgbClr val="B5473A"/>
                          </a:solidFill>
                          <a:latin typeface="Calibri" pitchFamily="34" charset="0"/>
                          <a:ea typeface="Calibri" pitchFamily="34" charset="-122"/>
                          <a:cs typeface="Calibri" pitchFamily="34" charset="-120"/>
                        </a:rPr>
                        <a:t>Crisis</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marL="0" indent="0">
                        <a:buNone/>
                      </a:pPr>
                      <a:r>
                        <a:rPr lang="en-US" sz="1600" dirty="0">
                          <a:solidFill>
                            <a:srgbClr val="1B2A41"/>
                          </a:solidFill>
                          <a:latin typeface="Calibri" pitchFamily="34" charset="0"/>
                          <a:ea typeface="Calibri" pitchFamily="34" charset="-122"/>
                          <a:cs typeface="Calibri" pitchFamily="34" charset="-120"/>
                        </a:rPr>
                        <a:t>Deuda de seguridad en el 82 % de las organizaciones (Veracode, 2026) y brechas de 4.99 millones de dólares (IBM, 2026).</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600" b="1" dirty="0">
                          <a:solidFill>
                            <a:srgbClr val="2F5D8A"/>
                          </a:solidFill>
                          <a:latin typeface="Calibri" pitchFamily="34" charset="0"/>
                          <a:ea typeface="Calibri" pitchFamily="34" charset="-122"/>
                          <a:cs typeface="Calibri" pitchFamily="34" charset="-120"/>
                        </a:rPr>
                        <a:t>Nuevo paradigma</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marL="0" indent="0">
                        <a:buNone/>
                      </a:pPr>
                      <a:r>
                        <a:rPr lang="en-US" sz="1600" dirty="0">
                          <a:solidFill>
                            <a:srgbClr val="1B2A41"/>
                          </a:solidFill>
                          <a:latin typeface="Calibri" pitchFamily="34" charset="0"/>
                          <a:ea typeface="Calibri" pitchFamily="34" charset="-122"/>
                          <a:cs typeface="Calibri" pitchFamily="34" charset="-120"/>
                        </a:rPr>
                        <a:t>Zero Trust (Rose et al., 2020) y desarrollo seguro con el marco SSDF (Souppaya et al., 2022).</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buNone/>
                      </a:pPr>
                      <a:r>
                        <a:rPr lang="en-US" sz="1600" b="1" dirty="0">
                          <a:solidFill>
                            <a:srgbClr val="5B6675"/>
                          </a:solidFill>
                          <a:latin typeface="Calibri" pitchFamily="34" charset="0"/>
                          <a:ea typeface="Calibri" pitchFamily="34" charset="-122"/>
                          <a:cs typeface="Calibri" pitchFamily="34" charset="-120"/>
                        </a:rPr>
                        <a:t>Inconmensurabilidad</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marL="0" indent="0">
                        <a:buNone/>
                      </a:pPr>
                      <a:r>
                        <a:rPr lang="en-US" sz="1600" dirty="0">
                          <a:solidFill>
                            <a:srgbClr val="1B2A41"/>
                          </a:solidFill>
                          <a:latin typeface="Calibri" pitchFamily="34" charset="0"/>
                          <a:ea typeface="Calibri" pitchFamily="34" charset="-122"/>
                          <a:cs typeface="Calibri" pitchFamily="34" charset="-120"/>
                        </a:rPr>
                        <a:t>Seguridad como área aparte frente a responsabilidad compartida: lenguajes y prioridades distintos. Hipótesis por contrastar.</a:t>
                      </a:r>
                      <a:endParaRPr lang="en-US" sz="1600" dirty="0">
                        <a:latin typeface="Calibri" charset="0"/>
                        <a:ea typeface="Calibri" charset="0"/>
                        <a:cs typeface="Calibri" charset="0"/>
                      </a:endParaRPr>
                    </a:p>
                  </a:txBody>
                  <a:tcPr marL="109728" marR="109728"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6126480"/>
            <a:ext cx="10972800" cy="274320"/>
          </a:xfrm>
          <a:prstGeom prst="rect">
            <a:avLst/>
          </a:prstGeom>
          <a:noFill/>
          <a:ln/>
        </p:spPr>
        <p:txBody>
          <a:bodyPr wrap="square" lIns="0" tIns="0" rIns="0" bIns="0" rtlCol="0" anchor="t"/>
          <a:lstStyle/>
          <a:p>
            <a:pPr marL="0" indent="0">
              <a:buNone/>
            </a:pPr>
            <a:r>
              <a:rPr lang="en-US" sz="1300" i="1" dirty="0">
                <a:solidFill>
                  <a:schemeClr val="accent4"/>
                </a:solidFill>
                <a:latin typeface="Calibri" pitchFamily="34" charset="0"/>
                <a:ea typeface="Calibri" pitchFamily="34" charset="-122"/>
                <a:cs typeface="Calibri" pitchFamily="34" charset="-120"/>
              </a:rPr>
              <a:t>Lectura por analogía: ordena el fenómeno, no lo demuestra.</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La crisis en cifras</a:t>
            </a:r>
          </a:p>
        </p:txBody>
      </p:sp>
      <p:sp>
        <p:nvSpPr>
          <p:cNvPr id="3" name="cifra 0"/>
          <p:cNvSpPr/>
          <p:nvPr/>
        </p:nvSpPr>
        <p:spPr>
          <a:xfrm>
            <a:off x="548640" y="1600200"/>
            <a:ext cx="3474720" cy="4434840"/>
          </a:xfrm>
          <a:prstGeom prst="roundRect">
            <a:avLst>
              <a:gd name="adj" fmla="val 3158"/>
            </a:avLst>
          </a:prstGeom>
          <a:solidFill>
            <a:schemeClr val="bg2"/>
          </a:solidFill>
          <a:ln w="12700">
            <a:solidFill>
              <a:schemeClr val="bg2"/>
            </a:solidFill>
            <a:prstDash val="solid"/>
          </a:ln>
        </p:spPr>
      </p:sp>
      <p:sp>
        <p:nvSpPr>
          <p:cNvPr id="4" name="Text 2"/>
          <p:cNvSpPr txBox="1"/>
          <p:nvPr/>
        </p:nvSpPr>
        <p:spPr>
          <a:xfrm>
            <a:off x="822960" y="1874520"/>
            <a:ext cx="2926080" cy="1097280"/>
          </a:xfrm>
          <a:prstGeom prst="rect">
            <a:avLst/>
          </a:prstGeom>
          <a:noFill/>
          <a:ln/>
        </p:spPr>
        <p:txBody>
          <a:bodyPr wrap="square" lIns="0" tIns="0" rIns="0" bIns="0" rtlCol="0" anchor="t"/>
          <a:lstStyle/>
          <a:p>
            <a:pPr marL="0" indent="0">
              <a:buNone/>
            </a:pPr>
            <a:r>
              <a:rPr lang="en-US" sz="5400" b="1" dirty="0">
                <a:solidFill>
                  <a:schemeClr val="accent3"/>
                </a:solidFill>
                <a:latin typeface="Cambria" pitchFamily="34" charset="0"/>
                <a:ea typeface="Cambria" pitchFamily="34" charset="-122"/>
                <a:cs typeface="Cambria" pitchFamily="34" charset="-120"/>
              </a:rPr>
              <a:t>31 %</a:t>
            </a:r>
            <a:endParaRPr lang="en-US" sz="5400" dirty="0"/>
          </a:p>
        </p:txBody>
      </p:sp>
      <p:sp>
        <p:nvSpPr>
          <p:cNvPr id="5" name="Text 3"/>
          <p:cNvSpPr txBox="1"/>
          <p:nvPr/>
        </p:nvSpPr>
        <p:spPr>
          <a:xfrm>
            <a:off x="822960" y="3154680"/>
            <a:ext cx="2926080" cy="201168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de las brechas empieza con la explotación de una vulnerabilidad; supera por primera vez al abuso de credenciales (13 %).</a:t>
            </a:r>
            <a:endParaRPr lang="en-US" sz="1800" dirty="0"/>
          </a:p>
        </p:txBody>
      </p:sp>
      <p:sp>
        <p:nvSpPr>
          <p:cNvPr id="6" name="Text 4"/>
          <p:cNvSpPr txBox="1"/>
          <p:nvPr/>
        </p:nvSpPr>
        <p:spPr>
          <a:xfrm>
            <a:off x="822960" y="5532120"/>
            <a:ext cx="2926080" cy="320040"/>
          </a:xfrm>
          <a:prstGeom prst="rect">
            <a:avLst/>
          </a:prstGeom>
          <a:noFill/>
          <a:ln/>
        </p:spPr>
        <p:txBody>
          <a:bodyPr wrap="square" lIns="0" tIns="0" rIns="0" bIns="0" rtlCol="0" anchor="t"/>
          <a:lstStyle/>
          <a:p>
            <a:pPr marL="0" indent="0">
              <a:buNone/>
            </a:pPr>
            <a:r>
              <a:rPr lang="en-US" sz="1300" i="1" dirty="0">
                <a:solidFill>
                  <a:schemeClr val="accent4"/>
                </a:solidFill>
                <a:latin typeface="Calibri" pitchFamily="34" charset="0"/>
                <a:ea typeface="Calibri" pitchFamily="34" charset="-122"/>
                <a:cs typeface="Calibri" pitchFamily="34" charset="-120"/>
              </a:rPr>
              <a:t>Verizon (2026)</a:t>
            </a:r>
            <a:endParaRPr lang="en-US" sz="1300" dirty="0"/>
          </a:p>
        </p:txBody>
      </p:sp>
      <p:sp>
        <p:nvSpPr>
          <p:cNvPr id="7" name="cifra 1"/>
          <p:cNvSpPr/>
          <p:nvPr/>
        </p:nvSpPr>
        <p:spPr>
          <a:xfrm>
            <a:off x="4343400" y="1600200"/>
            <a:ext cx="3474720" cy="4434840"/>
          </a:xfrm>
          <a:prstGeom prst="roundRect">
            <a:avLst>
              <a:gd name="adj" fmla="val 3158"/>
            </a:avLst>
          </a:prstGeom>
          <a:solidFill>
            <a:schemeClr val="bg2"/>
          </a:solidFill>
          <a:ln w="12700">
            <a:solidFill>
              <a:schemeClr val="bg2"/>
            </a:solidFill>
            <a:prstDash val="solid"/>
          </a:ln>
        </p:spPr>
      </p:sp>
      <p:sp>
        <p:nvSpPr>
          <p:cNvPr id="8" name="Text 6"/>
          <p:cNvSpPr txBox="1"/>
          <p:nvPr/>
        </p:nvSpPr>
        <p:spPr>
          <a:xfrm>
            <a:off x="4617720" y="1874520"/>
            <a:ext cx="2926080" cy="109728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82 %</a:t>
            </a:r>
            <a:endParaRPr lang="en-US" sz="5400" dirty="0"/>
          </a:p>
        </p:txBody>
      </p:sp>
      <p:sp>
        <p:nvSpPr>
          <p:cNvPr id="9" name="Text 7"/>
          <p:cNvSpPr txBox="1"/>
          <p:nvPr/>
        </p:nvSpPr>
        <p:spPr>
          <a:xfrm>
            <a:off x="4617720" y="3154680"/>
            <a:ext cx="2926080" cy="201168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de las organizaciones acumula deuda de seguridad: fallas sin corregir por más de un año.</a:t>
            </a:r>
            <a:endParaRPr lang="en-US" sz="1800" dirty="0"/>
          </a:p>
        </p:txBody>
      </p:sp>
      <p:sp>
        <p:nvSpPr>
          <p:cNvPr id="10" name="Text 8"/>
          <p:cNvSpPr txBox="1"/>
          <p:nvPr/>
        </p:nvSpPr>
        <p:spPr>
          <a:xfrm>
            <a:off x="4617720" y="5532120"/>
            <a:ext cx="2926080" cy="320040"/>
          </a:xfrm>
          <a:prstGeom prst="rect">
            <a:avLst/>
          </a:prstGeom>
          <a:noFill/>
          <a:ln/>
        </p:spPr>
        <p:txBody>
          <a:bodyPr wrap="square" lIns="0" tIns="0" rIns="0" bIns="0" rtlCol="0" anchor="t"/>
          <a:lstStyle/>
          <a:p>
            <a:pPr marL="0" indent="0">
              <a:buNone/>
            </a:pPr>
            <a:r>
              <a:rPr lang="en-US" sz="1300" i="1" dirty="0">
                <a:solidFill>
                  <a:schemeClr val="accent4"/>
                </a:solidFill>
                <a:latin typeface="Calibri" pitchFamily="34" charset="0"/>
                <a:ea typeface="Calibri" pitchFamily="34" charset="-122"/>
                <a:cs typeface="Calibri" pitchFamily="34" charset="-120"/>
              </a:rPr>
              <a:t>Veracode (2026)</a:t>
            </a:r>
            <a:endParaRPr lang="en-US" sz="1300" dirty="0"/>
          </a:p>
        </p:txBody>
      </p:sp>
      <p:sp>
        <p:nvSpPr>
          <p:cNvPr id="11" name="cifra 2"/>
          <p:cNvSpPr/>
          <p:nvPr/>
        </p:nvSpPr>
        <p:spPr>
          <a:xfrm>
            <a:off x="8138160" y="1600200"/>
            <a:ext cx="3474720" cy="4434840"/>
          </a:xfrm>
          <a:prstGeom prst="roundRect">
            <a:avLst>
              <a:gd name="adj" fmla="val 3158"/>
            </a:avLst>
          </a:prstGeom>
          <a:solidFill>
            <a:schemeClr val="bg2"/>
          </a:solidFill>
          <a:ln w="12700">
            <a:solidFill>
              <a:schemeClr val="bg2"/>
            </a:solidFill>
            <a:prstDash val="solid"/>
          </a:ln>
        </p:spPr>
      </p:sp>
      <p:sp>
        <p:nvSpPr>
          <p:cNvPr id="12" name="Text 10"/>
          <p:cNvSpPr txBox="1"/>
          <p:nvPr/>
        </p:nvSpPr>
        <p:spPr>
          <a:xfrm>
            <a:off x="8412480" y="1874520"/>
            <a:ext cx="2926080" cy="1097280"/>
          </a:xfrm>
          <a:prstGeom prst="rect">
            <a:avLst/>
          </a:prstGeom>
          <a:noFill/>
          <a:ln/>
        </p:spPr>
        <p:txBody>
          <a:bodyPr wrap="square" lIns="0" tIns="0" rIns="0" bIns="0" rtlCol="0" anchor="t"/>
          <a:lstStyle/>
          <a:p>
            <a:pPr marL="0" indent="0">
              <a:buNone/>
            </a:pPr>
            <a:r>
              <a:rPr lang="en-US" sz="5400" b="1" dirty="0">
                <a:solidFill>
                  <a:schemeClr val="accent5"/>
                </a:solidFill>
                <a:latin typeface="Cambria" pitchFamily="34" charset="0"/>
                <a:ea typeface="Cambria" pitchFamily="34" charset="-122"/>
                <a:cs typeface="Cambria" pitchFamily="34" charset="-120"/>
              </a:rPr>
              <a:t>4.99 M</a:t>
            </a:r>
            <a:endParaRPr lang="en-US" sz="5400" dirty="0"/>
          </a:p>
        </p:txBody>
      </p:sp>
      <p:sp>
        <p:nvSpPr>
          <p:cNvPr id="13" name="Text 11"/>
          <p:cNvSpPr txBox="1"/>
          <p:nvPr/>
        </p:nvSpPr>
        <p:spPr>
          <a:xfrm>
            <a:off x="8412480" y="3154680"/>
            <a:ext cx="2926080" cy="201168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de dólares es el costo promedio global de una brecha de datos, un valor récord.</a:t>
            </a:r>
            <a:endParaRPr lang="en-US" sz="1800" dirty="0"/>
          </a:p>
        </p:txBody>
      </p:sp>
      <p:sp>
        <p:nvSpPr>
          <p:cNvPr id="14" name="Text 12"/>
          <p:cNvSpPr txBox="1"/>
          <p:nvPr/>
        </p:nvSpPr>
        <p:spPr>
          <a:xfrm>
            <a:off x="8412480" y="5532120"/>
            <a:ext cx="2926080" cy="320040"/>
          </a:xfrm>
          <a:prstGeom prst="rect">
            <a:avLst/>
          </a:prstGeom>
          <a:noFill/>
          <a:ln/>
        </p:spPr>
        <p:txBody>
          <a:bodyPr wrap="square" lIns="0" tIns="0" rIns="0" bIns="0" rtlCol="0" anchor="t"/>
          <a:lstStyle/>
          <a:p>
            <a:pPr marL="0" indent="0">
              <a:buNone/>
            </a:pPr>
            <a:r>
              <a:rPr lang="en-US" sz="1300" i="1" dirty="0">
                <a:solidFill>
                  <a:schemeClr val="accent4"/>
                </a:solidFill>
                <a:latin typeface="Calibri" pitchFamily="34" charset="0"/>
                <a:ea typeface="Calibri" pitchFamily="34" charset="-122"/>
                <a:cs typeface="Calibri" pitchFamily="34" charset="-120"/>
              </a:rPr>
              <a:t>IBM (2026)</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Del paradigma al problema de estudio</a:t>
            </a:r>
          </a:p>
        </p:txBody>
      </p:sp>
      <p:sp>
        <p:nvSpPr>
          <p:cNvPr id="3" name="nivel MACRO"/>
          <p:cNvSpPr/>
          <p:nvPr/>
        </p:nvSpPr>
        <p:spPr>
          <a:xfrm>
            <a:off x="548640" y="1508760"/>
            <a:ext cx="11064240" cy="1371600"/>
          </a:xfrm>
          <a:prstGeom prst="roundRect">
            <a:avLst>
              <a:gd name="adj" fmla="val 8000"/>
            </a:avLst>
          </a:prstGeom>
          <a:solidFill>
            <a:schemeClr val="bg2"/>
          </a:solidFill>
          <a:ln w="12700">
            <a:solidFill>
              <a:schemeClr val="bg2"/>
            </a:solidFill>
            <a:prstDash val="solid"/>
          </a:ln>
        </p:spPr>
      </p:sp>
      <p:sp>
        <p:nvSpPr>
          <p:cNvPr id="4" name="etiqueta MACRO"/>
          <p:cNvSpPr/>
          <p:nvPr/>
        </p:nvSpPr>
        <p:spPr>
          <a:xfrm>
            <a:off x="777240" y="1737360"/>
            <a:ext cx="1554480" cy="914400"/>
          </a:xfrm>
          <a:prstGeom prst="roundRect">
            <a:avLst>
              <a:gd name="adj" fmla="val 10000"/>
            </a:avLst>
          </a:prstGeom>
          <a:solidFill>
            <a:schemeClr val="accent5"/>
          </a:solidFill>
          <a:ln w="12700">
            <a:solidFill>
              <a:schemeClr val="accent5"/>
            </a:solidFill>
            <a:prstDash val="solid"/>
          </a:ln>
        </p:spPr>
      </p:sp>
      <p:sp>
        <p:nvSpPr>
          <p:cNvPr id="5" name="Text 3"/>
          <p:cNvSpPr txBox="1"/>
          <p:nvPr/>
        </p:nvSpPr>
        <p:spPr>
          <a:xfrm>
            <a:off x="777240" y="1737360"/>
            <a:ext cx="1554480" cy="9144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MACRO</a:t>
            </a:r>
            <a:endParaRPr lang="en-US" sz="1600" dirty="0"/>
          </a:p>
          <a:p>
            <a:pPr marL="0" indent="0" algn="ctr">
              <a:buNone/>
            </a:pPr>
            <a:r>
              <a:rPr lang="en-US" sz="1300" dirty="0">
                <a:solidFill>
                  <a:schemeClr val="bg1"/>
                </a:solidFill>
                <a:latin typeface="Calibri" pitchFamily="34" charset="0"/>
                <a:ea typeface="Calibri" pitchFamily="34" charset="-122"/>
                <a:cs typeface="Calibri" pitchFamily="34" charset="-120"/>
              </a:rPr>
              <a:t>Mundial</a:t>
            </a:r>
            <a:endParaRPr lang="en-US" sz="1600" dirty="0"/>
          </a:p>
        </p:txBody>
      </p:sp>
      <p:sp>
        <p:nvSpPr>
          <p:cNvPr id="6" name="Text 4"/>
          <p:cNvSpPr txBox="1"/>
          <p:nvPr/>
        </p:nvSpPr>
        <p:spPr>
          <a:xfrm>
            <a:off x="2560320" y="1600200"/>
            <a:ext cx="8823960" cy="118872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La explotación de vulnerabilidades es el vector inicial más frecuente (31 %) y la deuda de seguridad alcanza al 82 % de las organizaciones.</a:t>
            </a:r>
            <a:endParaRPr lang="en-US" sz="1600" dirty="0"/>
          </a:p>
        </p:txBody>
      </p:sp>
      <p:sp>
        <p:nvSpPr>
          <p:cNvPr id="7" name="nivel MESO"/>
          <p:cNvSpPr/>
          <p:nvPr/>
        </p:nvSpPr>
        <p:spPr>
          <a:xfrm>
            <a:off x="1280160" y="3063240"/>
            <a:ext cx="9601200" cy="1371600"/>
          </a:xfrm>
          <a:prstGeom prst="roundRect">
            <a:avLst>
              <a:gd name="adj" fmla="val 8000"/>
            </a:avLst>
          </a:prstGeom>
          <a:solidFill>
            <a:schemeClr val="bg2"/>
          </a:solidFill>
          <a:ln w="12700">
            <a:solidFill>
              <a:schemeClr val="bg2"/>
            </a:solidFill>
            <a:prstDash val="solid"/>
          </a:ln>
        </p:spPr>
      </p:sp>
      <p:sp>
        <p:nvSpPr>
          <p:cNvPr id="8" name="etiqueta MESO"/>
          <p:cNvSpPr/>
          <p:nvPr/>
        </p:nvSpPr>
        <p:spPr>
          <a:xfrm>
            <a:off x="1508760" y="3291840"/>
            <a:ext cx="1554480" cy="914400"/>
          </a:xfrm>
          <a:prstGeom prst="roundRect">
            <a:avLst>
              <a:gd name="adj" fmla="val 10000"/>
            </a:avLst>
          </a:prstGeom>
          <a:solidFill>
            <a:schemeClr val="accent3"/>
          </a:solidFill>
          <a:ln w="12700">
            <a:solidFill>
              <a:schemeClr val="accent3"/>
            </a:solidFill>
            <a:prstDash val="solid"/>
          </a:ln>
        </p:spPr>
      </p:sp>
      <p:sp>
        <p:nvSpPr>
          <p:cNvPr id="9" name="Text 7"/>
          <p:cNvSpPr txBox="1"/>
          <p:nvPr/>
        </p:nvSpPr>
        <p:spPr>
          <a:xfrm>
            <a:off x="1508760" y="3291840"/>
            <a:ext cx="1554480" cy="9144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MESO</a:t>
            </a:r>
            <a:endParaRPr lang="en-US" sz="1600" dirty="0"/>
          </a:p>
          <a:p>
            <a:pPr marL="0" indent="0" algn="ctr">
              <a:buNone/>
            </a:pPr>
            <a:r>
              <a:rPr lang="en-US" sz="1300" dirty="0">
                <a:solidFill>
                  <a:schemeClr val="bg1"/>
                </a:solidFill>
                <a:latin typeface="Calibri" pitchFamily="34" charset="0"/>
                <a:ea typeface="Calibri" pitchFamily="34" charset="-122"/>
                <a:cs typeface="Calibri" pitchFamily="34" charset="-120"/>
              </a:rPr>
              <a:t>Guatemala</a:t>
            </a:r>
            <a:endParaRPr lang="en-US" sz="1600" dirty="0"/>
          </a:p>
        </p:txBody>
      </p:sp>
      <p:sp>
        <p:nvSpPr>
          <p:cNvPr id="10" name="Text 8"/>
          <p:cNvSpPr txBox="1"/>
          <p:nvPr/>
        </p:nvSpPr>
        <p:spPr>
          <a:xfrm>
            <a:off x="3291840" y="3154680"/>
            <a:ext cx="7360920" cy="118872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Los ciberataques aumentaron 200 % en 2024 (Mastercard, 2025) y la iniciativa de Ley de Ciberseguridad volvió a comisión en abril de 2026 (RSM Guatemala, s. f.).</a:t>
            </a:r>
            <a:endParaRPr lang="en-US" sz="1600" dirty="0"/>
          </a:p>
        </p:txBody>
      </p:sp>
      <p:sp>
        <p:nvSpPr>
          <p:cNvPr id="11" name="nivel MICRO"/>
          <p:cNvSpPr/>
          <p:nvPr/>
        </p:nvSpPr>
        <p:spPr>
          <a:xfrm>
            <a:off x="2011680" y="4617720"/>
            <a:ext cx="8138160" cy="1371600"/>
          </a:xfrm>
          <a:prstGeom prst="roundRect">
            <a:avLst>
              <a:gd name="adj" fmla="val 8000"/>
            </a:avLst>
          </a:prstGeom>
          <a:solidFill>
            <a:schemeClr val="bg2"/>
          </a:solidFill>
          <a:ln w="12700">
            <a:solidFill>
              <a:schemeClr val="bg2"/>
            </a:solidFill>
            <a:prstDash val="solid"/>
          </a:ln>
        </p:spPr>
      </p:sp>
      <p:sp>
        <p:nvSpPr>
          <p:cNvPr id="12" name="etiqueta MICRO"/>
          <p:cNvSpPr/>
          <p:nvPr/>
        </p:nvSpPr>
        <p:spPr>
          <a:xfrm>
            <a:off x="2240280" y="4846320"/>
            <a:ext cx="1554480" cy="914400"/>
          </a:xfrm>
          <a:prstGeom prst="roundRect">
            <a:avLst>
              <a:gd name="adj" fmla="val 10000"/>
            </a:avLst>
          </a:prstGeom>
          <a:solidFill>
            <a:schemeClr val="accent2"/>
          </a:solidFill>
          <a:ln w="12700">
            <a:solidFill>
              <a:schemeClr val="accent2"/>
            </a:solidFill>
            <a:prstDash val="solid"/>
          </a:ln>
        </p:spPr>
      </p:sp>
      <p:sp>
        <p:nvSpPr>
          <p:cNvPr id="13" name="Text 11"/>
          <p:cNvSpPr txBox="1"/>
          <p:nvPr/>
        </p:nvSpPr>
        <p:spPr>
          <a:xfrm>
            <a:off x="2240280" y="4846320"/>
            <a:ext cx="1554480" cy="9144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MICRO</a:t>
            </a:r>
            <a:endParaRPr lang="en-US" sz="1600" dirty="0"/>
          </a:p>
          <a:p>
            <a:pPr marL="0" indent="0" algn="ctr">
              <a:buNone/>
            </a:pPr>
            <a:r>
              <a:rPr lang="en-US" sz="1300" dirty="0">
                <a:solidFill>
                  <a:schemeClr val="bg1"/>
                </a:solidFill>
                <a:latin typeface="Calibri" pitchFamily="34" charset="0"/>
                <a:ea typeface="Calibri" pitchFamily="34" charset="-122"/>
                <a:cs typeface="Calibri" pitchFamily="34" charset="-120"/>
              </a:rPr>
              <a:t>Equipos de desarrollo</a:t>
            </a:r>
            <a:endParaRPr lang="en-US" sz="1600" dirty="0"/>
          </a:p>
        </p:txBody>
      </p:sp>
      <p:sp>
        <p:nvSpPr>
          <p:cNvPr id="14" name="Text 12"/>
          <p:cNvSpPr txBox="1"/>
          <p:nvPr/>
        </p:nvSpPr>
        <p:spPr>
          <a:xfrm>
            <a:off x="4023360" y="4709160"/>
            <a:ext cx="5897880" cy="118872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En empresas medianas del área metropolitana no se localizaron datos publicados sobre su adopción de prácticas de seguridad.</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Planteamiento del problema</a:t>
            </a:r>
          </a:p>
        </p:txBody>
      </p:sp>
      <p:sp>
        <p:nvSpPr>
          <p:cNvPr id="3" name="problema"/>
          <p:cNvSpPr/>
          <p:nvPr/>
        </p:nvSpPr>
        <p:spPr>
          <a:xfrm>
            <a:off x="548640" y="1554480"/>
            <a:ext cx="5486400" cy="4480560"/>
          </a:xfrm>
          <a:prstGeom prst="roundRect">
            <a:avLst>
              <a:gd name="adj" fmla="val 2449"/>
            </a:avLst>
          </a:prstGeom>
          <a:solidFill>
            <a:schemeClr val="accent2"/>
          </a:solidFill>
          <a:ln w="12700">
            <a:solidFill>
              <a:schemeClr val="accent2"/>
            </a:solidFill>
            <a:prstDash val="solid"/>
          </a:ln>
        </p:spPr>
      </p:sp>
      <p:sp>
        <p:nvSpPr>
          <p:cNvPr id="4" name="Text 2"/>
          <p:cNvSpPr txBox="1"/>
          <p:nvPr/>
        </p:nvSpPr>
        <p:spPr>
          <a:xfrm>
            <a:off x="868680" y="1828800"/>
            <a:ext cx="4846320" cy="365760"/>
          </a:xfrm>
          <a:prstGeom prst="rect">
            <a:avLst/>
          </a:prstGeom>
          <a:noFill/>
          <a:ln/>
        </p:spPr>
        <p:txBody>
          <a:bodyPr wrap="square" lIns="0" tIns="0" rIns="0" bIns="0" rtlCol="0" anchor="t"/>
          <a:lstStyle/>
          <a:p>
            <a:pPr marL="0" indent="0">
              <a:buNone/>
            </a:pPr>
            <a:r>
              <a:rPr lang="en-US" sz="1300" b="1" kern="0" spc="200" dirty="0">
                <a:solidFill>
                  <a:schemeClr val="bg1"/>
                </a:solidFill>
                <a:latin typeface="Calibri" pitchFamily="34" charset="0"/>
                <a:ea typeface="Calibri" pitchFamily="34" charset="-122"/>
                <a:cs typeface="Calibri" pitchFamily="34" charset="-120"/>
              </a:rPr>
              <a:t>PROBLEMA CENTRAL</a:t>
            </a:r>
            <a:endParaRPr lang="en-US" sz="1300" dirty="0"/>
          </a:p>
        </p:txBody>
      </p:sp>
      <p:sp>
        <p:nvSpPr>
          <p:cNvPr id="5" name="Text 3"/>
          <p:cNvSpPr txBox="1"/>
          <p:nvPr/>
        </p:nvSpPr>
        <p:spPr>
          <a:xfrm>
            <a:off x="868680" y="2286000"/>
            <a:ext cx="4846320" cy="2377440"/>
          </a:xfrm>
          <a:prstGeom prst="rect">
            <a:avLst/>
          </a:prstGeom>
          <a:noFill/>
          <a:ln/>
        </p:spPr>
        <p:txBody>
          <a:bodyPr wrap="square" lIns="0" tIns="0" rIns="0" bIns="0" rtlCol="0" anchor="t"/>
          <a:lstStyle/>
          <a:p>
            <a:pPr marL="0" indent="0">
              <a:buNone/>
            </a:pPr>
            <a:r>
              <a:rPr lang="en-US" sz="2100" dirty="0">
                <a:solidFill>
                  <a:schemeClr val="bg1"/>
                </a:solidFill>
                <a:latin typeface="Cambria" pitchFamily="34" charset="0"/>
                <a:ea typeface="Cambria" pitchFamily="34" charset="-122"/>
                <a:cs typeface="Cambria" pitchFamily="34" charset="-120"/>
              </a:rPr>
              <a:t>Los equipos de desarrollo de empresas medianas del área metropolitana de Guatemala integran de forma limitada y no documentada las prácticas de seguridad en su ciclo de desarrollo.</a:t>
            </a:r>
            <a:endParaRPr lang="en-US" sz="2100" dirty="0"/>
          </a:p>
        </p:txBody>
      </p:sp>
      <p:sp>
        <p:nvSpPr>
          <p:cNvPr id="6" name="Text 4"/>
          <p:cNvSpPr txBox="1"/>
          <p:nvPr/>
        </p:nvSpPr>
        <p:spPr>
          <a:xfrm>
            <a:off x="868680" y="4754880"/>
            <a:ext cx="4846320" cy="1005840"/>
          </a:xfrm>
          <a:prstGeom prst="rect">
            <a:avLst/>
          </a:prstGeom>
          <a:noFill/>
          <a:ln/>
        </p:spPr>
        <p:txBody>
          <a:bodyPr wrap="square" lIns="0" tIns="0" rIns="0" bIns="0" rtlCol="0" anchor="t"/>
          <a:lstStyle/>
          <a:p>
            <a:pPr marL="0" indent="0">
              <a:buNone/>
            </a:pPr>
            <a:r>
              <a:rPr lang="en-US" sz="1600" i="1" dirty="0">
                <a:solidFill>
                  <a:schemeClr val="bg1"/>
                </a:solidFill>
                <a:latin typeface="Calibri" pitchFamily="34" charset="0"/>
                <a:ea typeface="Calibri" pitchFamily="34" charset="-122"/>
                <a:cs typeface="Calibri" pitchFamily="34" charset="-120"/>
              </a:rPr>
              <a:t>Propósito: identificar y explicar los factores organizacionales que influyen en esa adopción.</a:t>
            </a:r>
            <a:endParaRPr lang="en-US" sz="1600" dirty="0"/>
          </a:p>
        </p:txBody>
      </p:sp>
      <p:sp>
        <p:nvSpPr>
          <p:cNvPr id="7" name="Text 5"/>
          <p:cNvSpPr txBox="1"/>
          <p:nvPr/>
        </p:nvSpPr>
        <p:spPr>
          <a:xfrm>
            <a:off x="6400800" y="1600200"/>
            <a:ext cx="5212080" cy="365760"/>
          </a:xfrm>
          <a:prstGeom prst="rect">
            <a:avLst/>
          </a:prstGeom>
          <a:noFill/>
          <a:ln/>
        </p:spPr>
        <p:txBody>
          <a:bodyPr wrap="square" lIns="0" tIns="0" rIns="0" bIns="0" rtlCol="0" anchor="t"/>
          <a:lstStyle/>
          <a:p>
            <a:pPr marL="0" indent="0">
              <a:buNone/>
            </a:pPr>
            <a:r>
              <a:rPr lang="en-US" sz="1300" b="1" kern="0" spc="200" dirty="0">
                <a:solidFill>
                  <a:schemeClr val="accent4"/>
                </a:solidFill>
                <a:latin typeface="Calibri" pitchFamily="34" charset="0"/>
                <a:ea typeface="Calibri" pitchFamily="34" charset="-122"/>
                <a:cs typeface="Calibri" pitchFamily="34" charset="-120"/>
              </a:rPr>
              <a:t>DEFICIENCIAS EN EL CONOCIMIENTO</a:t>
            </a:r>
            <a:endParaRPr lang="en-US" sz="1300" dirty="0"/>
          </a:p>
        </p:txBody>
      </p:sp>
      <p:sp>
        <p:nvSpPr>
          <p:cNvPr id="8" name="deficiencia Empírica"/>
          <p:cNvSpPr/>
          <p:nvPr/>
        </p:nvSpPr>
        <p:spPr>
          <a:xfrm>
            <a:off x="6400800" y="2057400"/>
            <a:ext cx="5212080" cy="1188720"/>
          </a:xfrm>
          <a:prstGeom prst="roundRect">
            <a:avLst>
              <a:gd name="adj" fmla="val 9231"/>
            </a:avLst>
          </a:prstGeom>
          <a:solidFill>
            <a:schemeClr val="bg2"/>
          </a:solidFill>
          <a:ln w="12700">
            <a:solidFill>
              <a:schemeClr val="bg2"/>
            </a:solidFill>
            <a:prstDash val="solid"/>
          </a:ln>
        </p:spPr>
      </p:sp>
      <p:sp>
        <p:nvSpPr>
          <p:cNvPr id="9" name="Text 7"/>
          <p:cNvSpPr txBox="1"/>
          <p:nvPr/>
        </p:nvSpPr>
        <p:spPr>
          <a:xfrm>
            <a:off x="6675120" y="2194560"/>
            <a:ext cx="466344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Empírica</a:t>
            </a:r>
            <a:endParaRPr lang="en-US" sz="1800" dirty="0"/>
          </a:p>
        </p:txBody>
      </p:sp>
      <p:sp>
        <p:nvSpPr>
          <p:cNvPr id="10" name="Text 8"/>
          <p:cNvSpPr txBox="1"/>
          <p:nvPr/>
        </p:nvSpPr>
        <p:spPr>
          <a:xfrm>
            <a:off x="6675120" y="2587752"/>
            <a:ext cx="46634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No hay datos locales sobre el grado de adopción de prácticas de desarrollo seguro.</a:t>
            </a:r>
            <a:endParaRPr lang="en-US" sz="1500" dirty="0"/>
          </a:p>
        </p:txBody>
      </p:sp>
      <p:sp>
        <p:nvSpPr>
          <p:cNvPr id="11" name="deficiencia Teórica"/>
          <p:cNvSpPr/>
          <p:nvPr/>
        </p:nvSpPr>
        <p:spPr>
          <a:xfrm>
            <a:off x="6400800" y="3401568"/>
            <a:ext cx="5212080" cy="1188720"/>
          </a:xfrm>
          <a:prstGeom prst="roundRect">
            <a:avLst>
              <a:gd name="adj" fmla="val 9231"/>
            </a:avLst>
          </a:prstGeom>
          <a:solidFill>
            <a:schemeClr val="bg2"/>
          </a:solidFill>
          <a:ln w="12700">
            <a:solidFill>
              <a:schemeClr val="bg2"/>
            </a:solidFill>
            <a:prstDash val="solid"/>
          </a:ln>
        </p:spPr>
      </p:sp>
      <p:sp>
        <p:nvSpPr>
          <p:cNvPr id="12" name="Text 10"/>
          <p:cNvSpPr txBox="1"/>
          <p:nvPr/>
        </p:nvSpPr>
        <p:spPr>
          <a:xfrm>
            <a:off x="6675120" y="3538728"/>
            <a:ext cx="466344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Teórica</a:t>
            </a:r>
            <a:endParaRPr lang="en-US" sz="1800" dirty="0"/>
          </a:p>
        </p:txBody>
      </p:sp>
      <p:sp>
        <p:nvSpPr>
          <p:cNvPr id="13" name="Text 11"/>
          <p:cNvSpPr txBox="1"/>
          <p:nvPr/>
        </p:nvSpPr>
        <p:spPr>
          <a:xfrm>
            <a:off x="6675120" y="3931920"/>
            <a:ext cx="46634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Los factores humanos y organizacionales se han estudiado menos que los tecnológicos.</a:t>
            </a:r>
            <a:endParaRPr lang="en-US" sz="1500" dirty="0"/>
          </a:p>
        </p:txBody>
      </p:sp>
      <p:sp>
        <p:nvSpPr>
          <p:cNvPr id="14" name="deficiencia Metodológica"/>
          <p:cNvSpPr/>
          <p:nvPr/>
        </p:nvSpPr>
        <p:spPr>
          <a:xfrm>
            <a:off x="6400800" y="4745736"/>
            <a:ext cx="5212080" cy="1188720"/>
          </a:xfrm>
          <a:prstGeom prst="roundRect">
            <a:avLst>
              <a:gd name="adj" fmla="val 9231"/>
            </a:avLst>
          </a:prstGeom>
          <a:solidFill>
            <a:schemeClr val="bg2"/>
          </a:solidFill>
          <a:ln w="12700">
            <a:solidFill>
              <a:schemeClr val="bg2"/>
            </a:solidFill>
            <a:prstDash val="solid"/>
          </a:ln>
        </p:spPr>
      </p:sp>
      <p:sp>
        <p:nvSpPr>
          <p:cNvPr id="15" name="Text 13"/>
          <p:cNvSpPr txBox="1"/>
          <p:nvPr/>
        </p:nvSpPr>
        <p:spPr>
          <a:xfrm>
            <a:off x="6675120" y="4882896"/>
            <a:ext cx="466344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Metodológica</a:t>
            </a:r>
            <a:endParaRPr lang="en-US" sz="1800" dirty="0"/>
          </a:p>
        </p:txBody>
      </p:sp>
      <p:sp>
        <p:nvSpPr>
          <p:cNvPr id="16" name="Text 14"/>
          <p:cNvSpPr txBox="1"/>
          <p:nvPr/>
        </p:nvSpPr>
        <p:spPr>
          <a:xfrm>
            <a:off x="6675120" y="5276088"/>
            <a:ext cx="46634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No se localizaron instrumentos adaptados al contexto guatemalteco.</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Árbol de problemas</a:t>
            </a:r>
          </a:p>
        </p:txBody>
      </p:sp>
      <p:pic>
        <p:nvPicPr>
          <p:cNvPr id="3" name="Image 0" descr="Árbol de problemas: cinco causas, problema central y cuatro efectos"/>
          <p:cNvPicPr>
            <a:picLocks noChangeAspect="1"/>
          </p:cNvPicPr>
          <p:nvPr/>
        </p:nvPicPr>
        <p:blipFill>
          <a:blip r:embed="rId3"/>
          <a:stretch>
            <a:fillRect/>
          </a:stretch>
        </p:blipFill>
        <p:spPr>
          <a:xfrm>
            <a:off x="548640" y="1371600"/>
            <a:ext cx="11064240" cy="4886706"/>
          </a:xfrm>
          <a:prstGeom prst="rect">
            <a:avLst/>
          </a:prstGeom>
        </p:spPr>
      </p:pic>
      <p:sp>
        <p:nvSpPr>
          <p:cNvPr id="4" name="Text 1"/>
          <p:cNvSpPr txBox="1"/>
          <p:nvPr/>
        </p:nvSpPr>
        <p:spPr>
          <a:xfrm>
            <a:off x="548640" y="6217920"/>
            <a:ext cx="10972800" cy="228600"/>
          </a:xfrm>
          <a:prstGeom prst="rect">
            <a:avLst/>
          </a:prstGeom>
          <a:noFill/>
          <a:ln/>
        </p:spPr>
        <p:txBody>
          <a:bodyPr wrap="square" lIns="0" tIns="0" rIns="0" bIns="0" rtlCol="0" anchor="t"/>
          <a:lstStyle/>
          <a:p>
            <a:pPr marL="0" indent="0">
              <a:buNone/>
            </a:pPr>
            <a:r>
              <a:rPr lang="en-US" sz="1100" i="1" dirty="0">
                <a:solidFill>
                  <a:schemeClr val="accent4"/>
                </a:solidFill>
                <a:latin typeface="Calibri" pitchFamily="34" charset="0"/>
                <a:ea typeface="Calibri" pitchFamily="34" charset="-122"/>
                <a:cs typeface="Calibri" pitchFamily="34" charset="-120"/>
              </a:rPr>
              <a:t>Elaboración propia con base en Verizon (2026), Veracode (2026), IBM (2026), Rajapakse et al. (2022) y Ortega Ovalle (2026).</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Árbol de objetivos</a:t>
            </a:r>
          </a:p>
        </p:txBody>
      </p:sp>
      <p:pic>
        <p:nvPicPr>
          <p:cNvPr id="3" name="Image 0" descr="Árbol de objetivos: cinco medios, objetivo central y cuatro fines"/>
          <p:cNvPicPr>
            <a:picLocks noChangeAspect="1"/>
          </p:cNvPicPr>
          <p:nvPr/>
        </p:nvPicPr>
        <p:blipFill>
          <a:blip r:embed="rId3"/>
          <a:stretch>
            <a:fillRect/>
          </a:stretch>
        </p:blipFill>
        <p:spPr>
          <a:xfrm>
            <a:off x="548640" y="1371600"/>
            <a:ext cx="11064240" cy="4886706"/>
          </a:xfrm>
          <a:prstGeom prst="rect">
            <a:avLst/>
          </a:prstGeom>
        </p:spPr>
      </p:pic>
      <p:sp>
        <p:nvSpPr>
          <p:cNvPr id="4" name="Text 1"/>
          <p:cNvSpPr txBox="1"/>
          <p:nvPr/>
        </p:nvSpPr>
        <p:spPr>
          <a:xfrm>
            <a:off x="548640" y="6217920"/>
            <a:ext cx="10972800" cy="228600"/>
          </a:xfrm>
          <a:prstGeom prst="rect">
            <a:avLst/>
          </a:prstGeom>
          <a:noFill/>
          <a:ln/>
        </p:spPr>
        <p:txBody>
          <a:bodyPr wrap="square" lIns="0" tIns="0" rIns="0" bIns="0" rtlCol="0" anchor="t"/>
          <a:lstStyle/>
          <a:p>
            <a:pPr marL="0" indent="0">
              <a:buNone/>
            </a:pPr>
            <a:r>
              <a:rPr lang="en-US" sz="1100" i="1" dirty="0">
                <a:solidFill>
                  <a:schemeClr val="accent4"/>
                </a:solidFill>
                <a:latin typeface="Calibri" pitchFamily="34" charset="0"/>
                <a:ea typeface="Calibri" pitchFamily="34" charset="-122"/>
                <a:cs typeface="Calibri" pitchFamily="34" charset="-120"/>
              </a:rPr>
              <a:t>Elaboración propia a partir del árbol de problemas.</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Pregunta y objetivos de investigación</a:t>
            </a:r>
          </a:p>
        </p:txBody>
      </p:sp>
      <p:sp>
        <p:nvSpPr>
          <p:cNvPr id="3" name="pregunta"/>
          <p:cNvSpPr/>
          <p:nvPr/>
        </p:nvSpPr>
        <p:spPr>
          <a:xfrm>
            <a:off x="548640" y="1417320"/>
            <a:ext cx="11064240" cy="1417320"/>
          </a:xfrm>
          <a:prstGeom prst="roundRect">
            <a:avLst>
              <a:gd name="adj" fmla="val 7742"/>
            </a:avLst>
          </a:prstGeom>
          <a:solidFill>
            <a:schemeClr val="tx1"/>
          </a:solidFill>
          <a:ln w="12700">
            <a:solidFill>
              <a:schemeClr val="tx1"/>
            </a:solidFill>
            <a:prstDash val="solid"/>
          </a:ln>
        </p:spPr>
        <p:txBody>
          <a:bodyPr/>
          <a:lstStyle/>
          <a:p>
            <a:endParaRPr/>
          </a:p>
        </p:txBody>
      </p:sp>
      <p:sp>
        <p:nvSpPr>
          <p:cNvPr id="4" name="Text 2"/>
          <p:cNvSpPr txBox="1"/>
          <p:nvPr/>
        </p:nvSpPr>
        <p:spPr>
          <a:xfrm>
            <a:off x="822960" y="1536192"/>
            <a:ext cx="4572000" cy="274320"/>
          </a:xfrm>
          <a:prstGeom prst="rect">
            <a:avLst/>
          </a:prstGeom>
          <a:noFill/>
          <a:ln/>
        </p:spPr>
        <p:txBody>
          <a:bodyPr wrap="square" lIns="0" tIns="0" rIns="0" bIns="0" rtlCol="0" anchor="t"/>
          <a:lstStyle/>
          <a:p>
            <a:pPr marL="0" indent="0">
              <a:buNone/>
            </a:pPr>
            <a:r>
              <a:rPr lang="en-US" sz="1200" b="1" kern="0" spc="200" dirty="0">
                <a:solidFill>
                  <a:schemeClr val="accent3"/>
                </a:solidFill>
                <a:latin typeface="Calibri" pitchFamily="34" charset="0"/>
                <a:ea typeface="Calibri" pitchFamily="34" charset="-122"/>
                <a:cs typeface="Calibri" pitchFamily="34" charset="-120"/>
              </a:rPr>
              <a:t>PREGUNTA CENTRAL</a:t>
            </a:r>
            <a:endParaRPr lang="en-US" sz="1200" dirty="0"/>
          </a:p>
        </p:txBody>
      </p:sp>
      <p:sp>
        <p:nvSpPr>
          <p:cNvPr id="5" name="Text 3"/>
          <p:cNvSpPr txBox="1"/>
          <p:nvPr/>
        </p:nvSpPr>
        <p:spPr>
          <a:xfrm>
            <a:off x="822960" y="1828800"/>
            <a:ext cx="10515600" cy="960120"/>
          </a:xfrm>
          <a:prstGeom prst="rect">
            <a:avLst/>
          </a:prstGeom>
          <a:noFill/>
          <a:ln/>
        </p:spPr>
        <p:txBody>
          <a:bodyPr wrap="square" lIns="0" tIns="0" rIns="0" bIns="0" rtlCol="0" anchor="t"/>
          <a:lstStyle/>
          <a:p>
            <a:pPr marL="0" indent="0">
              <a:buNone/>
            </a:pPr>
            <a:r>
              <a:rPr lang="en-US" sz="1700" dirty="0">
                <a:solidFill>
                  <a:schemeClr val="bg1"/>
                </a:solidFill>
                <a:latin typeface="Cambria" pitchFamily="34" charset="0"/>
                <a:ea typeface="Cambria" pitchFamily="34" charset="-122"/>
                <a:cs typeface="Cambria" pitchFamily="34" charset="-120"/>
              </a:rPr>
              <a:t>¿Qué factores organizacionales influyen en la adopción de prácticas de seguridad en el ciclo de desarrollo de software en equipos de desarrollo de empresas medianas del área metropolitana de Guatemala durante el año 2027?</a:t>
            </a:r>
            <a:endParaRPr lang="en-US" sz="1700" dirty="0"/>
          </a:p>
        </p:txBody>
      </p:sp>
      <p:sp>
        <p:nvSpPr>
          <p:cNvPr id="6" name="objetivo general"/>
          <p:cNvSpPr/>
          <p:nvPr/>
        </p:nvSpPr>
        <p:spPr>
          <a:xfrm>
            <a:off x="548640" y="3017520"/>
            <a:ext cx="4572000" cy="3108960"/>
          </a:xfrm>
          <a:prstGeom prst="roundRect">
            <a:avLst>
              <a:gd name="adj" fmla="val 3529"/>
            </a:avLst>
          </a:prstGeom>
          <a:solidFill>
            <a:schemeClr val="bg2"/>
          </a:solidFill>
          <a:ln w="12700">
            <a:solidFill>
              <a:schemeClr val="bg2"/>
            </a:solidFill>
            <a:prstDash val="solid"/>
          </a:ln>
        </p:spPr>
        <p:txBody>
          <a:bodyPr/>
          <a:lstStyle/>
          <a:p>
            <a:endParaRPr/>
          </a:p>
        </p:txBody>
      </p:sp>
      <p:sp>
        <p:nvSpPr>
          <p:cNvPr id="7" name="Text 5"/>
          <p:cNvSpPr txBox="1"/>
          <p:nvPr/>
        </p:nvSpPr>
        <p:spPr>
          <a:xfrm>
            <a:off x="822960" y="3154680"/>
            <a:ext cx="4023360" cy="274320"/>
          </a:xfrm>
          <a:prstGeom prst="rect">
            <a:avLst/>
          </a:prstGeom>
          <a:noFill/>
          <a:ln/>
        </p:spPr>
        <p:txBody>
          <a:bodyPr wrap="square" lIns="0" tIns="0" rIns="0" bIns="0" rtlCol="0" anchor="t"/>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OBJETIVO GENERAL</a:t>
            </a:r>
            <a:endParaRPr lang="en-US" sz="1200" dirty="0"/>
          </a:p>
        </p:txBody>
      </p:sp>
      <p:sp>
        <p:nvSpPr>
          <p:cNvPr id="8" name="Text 6"/>
          <p:cNvSpPr txBox="1"/>
          <p:nvPr/>
        </p:nvSpPr>
        <p:spPr>
          <a:xfrm>
            <a:off x="822960" y="3474720"/>
            <a:ext cx="4023360" cy="25603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Analizar los factores organizacionales que inciden en la adopción de prácticas de seguridad durante el ciclo de desarrollo de software en equipos de desarrollo de empresas medianas del área metropolitana de Guatemala en el año 2027.</a:t>
            </a:r>
            <a:endParaRPr lang="en-US" sz="1600" dirty="0"/>
          </a:p>
        </p:txBody>
      </p:sp>
      <p:sp>
        <p:nvSpPr>
          <p:cNvPr id="9" name="objetivos específicos"/>
          <p:cNvSpPr/>
          <p:nvPr/>
        </p:nvSpPr>
        <p:spPr>
          <a:xfrm>
            <a:off x="5303520" y="3017520"/>
            <a:ext cx="6309360" cy="3108960"/>
          </a:xfrm>
          <a:prstGeom prst="roundRect">
            <a:avLst>
              <a:gd name="adj" fmla="val 3529"/>
            </a:avLst>
          </a:prstGeom>
          <a:solidFill>
            <a:schemeClr val="bg2"/>
          </a:solidFill>
          <a:ln w="12700">
            <a:solidFill>
              <a:schemeClr val="bg2"/>
            </a:solidFill>
            <a:prstDash val="solid"/>
          </a:ln>
        </p:spPr>
        <p:txBody>
          <a:bodyPr/>
          <a:lstStyle/>
          <a:p>
            <a:endParaRPr/>
          </a:p>
        </p:txBody>
      </p:sp>
      <p:sp>
        <p:nvSpPr>
          <p:cNvPr id="10" name="Text 8"/>
          <p:cNvSpPr txBox="1"/>
          <p:nvPr/>
        </p:nvSpPr>
        <p:spPr>
          <a:xfrm>
            <a:off x="5577840" y="3154680"/>
            <a:ext cx="5760720" cy="274320"/>
          </a:xfrm>
          <a:prstGeom prst="rect">
            <a:avLst/>
          </a:prstGeom>
          <a:noFill/>
          <a:ln/>
        </p:spPr>
        <p:txBody>
          <a:bodyPr wrap="square" lIns="0" tIns="0" rIns="0" bIns="0" rtlCol="0" anchor="t"/>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OBJETIVOS ESPECÍFICOS</a:t>
            </a:r>
            <a:endParaRPr lang="en-US" sz="1200" dirty="0"/>
          </a:p>
        </p:txBody>
      </p:sp>
      <p:sp>
        <p:nvSpPr>
          <p:cNvPr id="11" name="número 1"/>
          <p:cNvSpPr/>
          <p:nvPr/>
        </p:nvSpPr>
        <p:spPr>
          <a:xfrm>
            <a:off x="5577840" y="3566160"/>
            <a:ext cx="411480" cy="411480"/>
          </a:xfrm>
          <a:prstGeom prst="ellipse">
            <a:avLst/>
          </a:prstGeom>
          <a:solidFill>
            <a:srgbClr val="1F7A6D"/>
          </a:solidFill>
          <a:ln w="12700">
            <a:solidFill>
              <a:srgbClr val="1F7A6D"/>
            </a:solidFill>
            <a:prstDash val="solid"/>
          </a:ln>
        </p:spPr>
        <p:txBody>
          <a:bodyPr/>
          <a:lstStyle/>
          <a:p>
            <a:endParaRPr/>
          </a:p>
        </p:txBody>
      </p:sp>
      <p:sp>
        <p:nvSpPr>
          <p:cNvPr id="12" name="Text 10"/>
          <p:cNvSpPr txBox="1"/>
          <p:nvPr/>
        </p:nvSpPr>
        <p:spPr>
          <a:xfrm>
            <a:off x="5577840" y="356616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13" name="Text 11"/>
          <p:cNvSpPr txBox="1"/>
          <p:nvPr/>
        </p:nvSpPr>
        <p:spPr>
          <a:xfrm>
            <a:off x="6172200" y="3520440"/>
            <a:ext cx="5257800" cy="7772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Identificar las prácticas de seguridad que aplican los equipos, con base en el marco SSDF del NIST.</a:t>
            </a:r>
            <a:endParaRPr lang="en-US" sz="1500" dirty="0"/>
          </a:p>
        </p:txBody>
      </p:sp>
      <p:sp>
        <p:nvSpPr>
          <p:cNvPr id="14" name="número 2"/>
          <p:cNvSpPr/>
          <p:nvPr/>
        </p:nvSpPr>
        <p:spPr>
          <a:xfrm>
            <a:off x="5577840" y="4434840"/>
            <a:ext cx="411480" cy="411480"/>
          </a:xfrm>
          <a:prstGeom prst="ellipse">
            <a:avLst/>
          </a:prstGeom>
          <a:solidFill>
            <a:srgbClr val="1F7A6D"/>
          </a:solidFill>
          <a:ln w="12700">
            <a:solidFill>
              <a:srgbClr val="1F7A6D"/>
            </a:solidFill>
            <a:prstDash val="solid"/>
          </a:ln>
        </p:spPr>
        <p:txBody>
          <a:bodyPr/>
          <a:lstStyle/>
          <a:p>
            <a:endParaRPr/>
          </a:p>
        </p:txBody>
      </p:sp>
      <p:sp>
        <p:nvSpPr>
          <p:cNvPr id="15" name="Text 13"/>
          <p:cNvSpPr txBox="1"/>
          <p:nvPr/>
        </p:nvSpPr>
        <p:spPr>
          <a:xfrm>
            <a:off x="5577840" y="443484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6172200" y="4389120"/>
            <a:ext cx="5257800" cy="7772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Describir las barreras de personas, prácticas, herramientas, infraestructura y gobernanza que perciben.</a:t>
            </a:r>
            <a:endParaRPr lang="en-US" sz="1500" dirty="0"/>
          </a:p>
        </p:txBody>
      </p:sp>
      <p:sp>
        <p:nvSpPr>
          <p:cNvPr id="17" name="número 3"/>
          <p:cNvSpPr/>
          <p:nvPr/>
        </p:nvSpPr>
        <p:spPr>
          <a:xfrm>
            <a:off x="5577840" y="5303520"/>
            <a:ext cx="411480" cy="411480"/>
          </a:xfrm>
          <a:prstGeom prst="ellipse">
            <a:avLst/>
          </a:prstGeom>
          <a:solidFill>
            <a:srgbClr val="1F7A6D"/>
          </a:solidFill>
          <a:ln w="12700">
            <a:solidFill>
              <a:srgbClr val="1F7A6D"/>
            </a:solidFill>
            <a:prstDash val="solid"/>
          </a:ln>
        </p:spPr>
        <p:txBody>
          <a:bodyPr/>
          <a:lstStyle/>
          <a:p>
            <a:endParaRPr/>
          </a:p>
        </p:txBody>
      </p:sp>
      <p:sp>
        <p:nvSpPr>
          <p:cNvPr id="18" name="Text 16"/>
          <p:cNvSpPr txBox="1"/>
          <p:nvPr/>
        </p:nvSpPr>
        <p:spPr>
          <a:xfrm>
            <a:off x="5577840" y="530352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172200" y="5257800"/>
            <a:ext cx="5257800" cy="7772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Determinar la relación entre la capacitación en desarrollo seguro y la adopción de prácticas.</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Justificación y viabilidad</a:t>
            </a:r>
          </a:p>
        </p:txBody>
      </p:sp>
      <p:sp>
        <p:nvSpPr>
          <p:cNvPr id="3" name="perspectiva Teórica"/>
          <p:cNvSpPr/>
          <p:nvPr/>
        </p:nvSpPr>
        <p:spPr>
          <a:xfrm>
            <a:off x="548640" y="1508760"/>
            <a:ext cx="3474720" cy="3429000"/>
          </a:xfrm>
          <a:prstGeom prst="roundRect">
            <a:avLst>
              <a:gd name="adj" fmla="val 3200"/>
            </a:avLst>
          </a:prstGeom>
          <a:solidFill>
            <a:schemeClr val="bg2"/>
          </a:solidFill>
          <a:ln w="12700">
            <a:solidFill>
              <a:schemeClr val="bg2"/>
            </a:solidFill>
            <a:prstDash val="solid"/>
          </a:ln>
        </p:spPr>
      </p:sp>
      <p:sp>
        <p:nvSpPr>
          <p:cNvPr id="4" name="etiqueta Teórica"/>
          <p:cNvSpPr/>
          <p:nvPr/>
        </p:nvSpPr>
        <p:spPr>
          <a:xfrm>
            <a:off x="822960" y="1783080"/>
            <a:ext cx="2926080" cy="566928"/>
          </a:xfrm>
          <a:prstGeom prst="roundRect">
            <a:avLst>
              <a:gd name="adj" fmla="val 16129"/>
            </a:avLst>
          </a:prstGeom>
          <a:solidFill>
            <a:schemeClr val="accent5"/>
          </a:solidFill>
          <a:ln w="12700">
            <a:solidFill>
              <a:schemeClr val="accent5"/>
            </a:solidFill>
            <a:prstDash val="solid"/>
          </a:ln>
        </p:spPr>
      </p:sp>
      <p:sp>
        <p:nvSpPr>
          <p:cNvPr id="5" name="Text 3"/>
          <p:cNvSpPr txBox="1"/>
          <p:nvPr/>
        </p:nvSpPr>
        <p:spPr>
          <a:xfrm>
            <a:off x="822960" y="1783080"/>
            <a:ext cx="2926080" cy="566928"/>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Teórica</a:t>
            </a:r>
            <a:endParaRPr lang="en-US" sz="1800" dirty="0"/>
          </a:p>
        </p:txBody>
      </p:sp>
      <p:sp>
        <p:nvSpPr>
          <p:cNvPr id="6" name="Text 4"/>
          <p:cNvSpPr txBox="1"/>
          <p:nvPr/>
        </p:nvSpPr>
        <p:spPr>
          <a:xfrm>
            <a:off x="822960" y="260604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Aplica la teoría de Kuhn a un fenómeno de ingeniería de software</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Aporta evidencia de un contexto no documentado</a:t>
            </a:r>
            <a:endParaRPr lang="en-US" sz="1500" dirty="0"/>
          </a:p>
        </p:txBody>
      </p:sp>
      <p:sp>
        <p:nvSpPr>
          <p:cNvPr id="7" name="perspectiva Metodológica"/>
          <p:cNvSpPr/>
          <p:nvPr/>
        </p:nvSpPr>
        <p:spPr>
          <a:xfrm>
            <a:off x="4343400" y="1508760"/>
            <a:ext cx="3474720" cy="3429000"/>
          </a:xfrm>
          <a:prstGeom prst="roundRect">
            <a:avLst>
              <a:gd name="adj" fmla="val 3200"/>
            </a:avLst>
          </a:prstGeom>
          <a:solidFill>
            <a:schemeClr val="bg2"/>
          </a:solidFill>
          <a:ln w="12700">
            <a:solidFill>
              <a:schemeClr val="bg2"/>
            </a:solidFill>
            <a:prstDash val="solid"/>
          </a:ln>
        </p:spPr>
      </p:sp>
      <p:sp>
        <p:nvSpPr>
          <p:cNvPr id="8" name="etiqueta Metodológica"/>
          <p:cNvSpPr/>
          <p:nvPr/>
        </p:nvSpPr>
        <p:spPr>
          <a:xfrm>
            <a:off x="4617720" y="1783080"/>
            <a:ext cx="2926080" cy="566928"/>
          </a:xfrm>
          <a:prstGeom prst="roundRect">
            <a:avLst>
              <a:gd name="adj" fmla="val 16129"/>
            </a:avLst>
          </a:prstGeom>
          <a:solidFill>
            <a:schemeClr val="accent1"/>
          </a:solidFill>
          <a:ln w="12700">
            <a:solidFill>
              <a:schemeClr val="accent1"/>
            </a:solidFill>
            <a:prstDash val="solid"/>
          </a:ln>
        </p:spPr>
      </p:sp>
      <p:sp>
        <p:nvSpPr>
          <p:cNvPr id="9" name="Text 7"/>
          <p:cNvSpPr txBox="1"/>
          <p:nvPr/>
        </p:nvSpPr>
        <p:spPr>
          <a:xfrm>
            <a:off x="4617720" y="1783080"/>
            <a:ext cx="2926080" cy="566928"/>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Metodológica</a:t>
            </a:r>
            <a:endParaRPr lang="en-US" sz="1800" dirty="0"/>
          </a:p>
        </p:txBody>
      </p:sp>
      <p:sp>
        <p:nvSpPr>
          <p:cNvPr id="10" name="Text 8"/>
          <p:cNvSpPr txBox="1"/>
          <p:nvPr/>
        </p:nvSpPr>
        <p:spPr>
          <a:xfrm>
            <a:off x="4617720" y="260604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Propone un instrumento basado en los cuatro grupos del SSDF</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Se valida con juicio de expertos y prueba piloto</a:t>
            </a:r>
            <a:endParaRPr lang="en-US" sz="1500" dirty="0"/>
          </a:p>
        </p:txBody>
      </p:sp>
      <p:sp>
        <p:nvSpPr>
          <p:cNvPr id="11" name="perspectiva Práctica"/>
          <p:cNvSpPr/>
          <p:nvPr/>
        </p:nvSpPr>
        <p:spPr>
          <a:xfrm>
            <a:off x="8138160" y="1508760"/>
            <a:ext cx="3474720" cy="3429000"/>
          </a:xfrm>
          <a:prstGeom prst="roundRect">
            <a:avLst>
              <a:gd name="adj" fmla="val 3200"/>
            </a:avLst>
          </a:prstGeom>
          <a:solidFill>
            <a:schemeClr val="bg2"/>
          </a:solidFill>
          <a:ln w="12700">
            <a:solidFill>
              <a:schemeClr val="bg2"/>
            </a:solidFill>
            <a:prstDash val="solid"/>
          </a:ln>
        </p:spPr>
      </p:sp>
      <p:sp>
        <p:nvSpPr>
          <p:cNvPr id="12" name="etiqueta Práctica"/>
          <p:cNvSpPr/>
          <p:nvPr/>
        </p:nvSpPr>
        <p:spPr>
          <a:xfrm>
            <a:off x="8412480" y="1783080"/>
            <a:ext cx="2926080" cy="566928"/>
          </a:xfrm>
          <a:prstGeom prst="roundRect">
            <a:avLst>
              <a:gd name="adj" fmla="val 16129"/>
            </a:avLst>
          </a:prstGeom>
          <a:solidFill>
            <a:schemeClr val="accent3"/>
          </a:solidFill>
          <a:ln w="12700">
            <a:solidFill>
              <a:schemeClr val="accent3"/>
            </a:solidFill>
            <a:prstDash val="solid"/>
          </a:ln>
        </p:spPr>
      </p:sp>
      <p:sp>
        <p:nvSpPr>
          <p:cNvPr id="13" name="Text 11"/>
          <p:cNvSpPr txBox="1"/>
          <p:nvPr/>
        </p:nvSpPr>
        <p:spPr>
          <a:xfrm>
            <a:off x="8412480" y="1783080"/>
            <a:ext cx="2926080" cy="566928"/>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Práctica</a:t>
            </a:r>
            <a:endParaRPr lang="en-US" sz="1800" dirty="0"/>
          </a:p>
        </p:txBody>
      </p:sp>
      <p:sp>
        <p:nvSpPr>
          <p:cNvPr id="14" name="Text 12"/>
          <p:cNvSpPr txBox="1"/>
          <p:nvPr/>
        </p:nvSpPr>
        <p:spPr>
          <a:xfrm>
            <a:off x="8412480" y="260604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Orienta qué capacitación, políticas y herramientas priorizar</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Ofrece un diagnóstico local a gerencias y universidades</a:t>
            </a:r>
            <a:endParaRPr lang="en-US" sz="1500" dirty="0"/>
          </a:p>
        </p:txBody>
      </p:sp>
      <p:sp>
        <p:nvSpPr>
          <p:cNvPr id="15" name="viabilidad"/>
          <p:cNvSpPr/>
          <p:nvPr/>
        </p:nvSpPr>
        <p:spPr>
          <a:xfrm>
            <a:off x="548640" y="5166360"/>
            <a:ext cx="11064240" cy="914400"/>
          </a:xfrm>
          <a:prstGeom prst="roundRect">
            <a:avLst>
              <a:gd name="adj" fmla="val 12000"/>
            </a:avLst>
          </a:prstGeom>
          <a:solidFill>
            <a:schemeClr val="tx1"/>
          </a:solidFill>
          <a:ln w="12700">
            <a:solidFill>
              <a:schemeClr val="tx1"/>
            </a:solidFill>
            <a:prstDash val="solid"/>
          </a:ln>
        </p:spPr>
      </p:sp>
      <p:sp>
        <p:nvSpPr>
          <p:cNvPr id="16" name="Text 14"/>
          <p:cNvSpPr txBox="1"/>
          <p:nvPr/>
        </p:nvSpPr>
        <p:spPr>
          <a:xfrm>
            <a:off x="822960" y="5166360"/>
            <a:ext cx="10515600" cy="914400"/>
          </a:xfrm>
          <a:prstGeom prst="rect">
            <a:avLst/>
          </a:prstGeom>
          <a:noFill/>
          <a:ln/>
        </p:spPr>
        <p:txBody>
          <a:bodyPr wrap="square" lIns="0" tIns="0" rIns="0" bIns="0" rtlCol="0" anchor="ctr"/>
          <a:lstStyle/>
          <a:p>
            <a:pPr marL="0" indent="0">
              <a:buNone/>
            </a:pPr>
            <a:r>
              <a:rPr lang="en-US" sz="1700" b="1" dirty="0">
                <a:solidFill>
                  <a:srgbClr val="D99A1E"/>
                </a:solidFill>
                <a:latin typeface="Calibri" pitchFamily="34" charset="0"/>
                <a:ea typeface="Calibri" pitchFamily="34" charset="-122"/>
                <a:cs typeface="Calibri" pitchFamily="34" charset="-120"/>
              </a:rPr>
              <a:t>Viabilidad: </a:t>
            </a:r>
            <a:r>
              <a:rPr lang="en-US" sz="1700" dirty="0">
                <a:solidFill>
                  <a:srgbClr val="FFFFFF"/>
                </a:solidFill>
                <a:latin typeface="Calibri" pitchFamily="34" charset="0"/>
                <a:ea typeface="Calibri" pitchFamily="34" charset="-122"/>
                <a:cs typeface="Calibri" pitchFamily="34" charset="-120"/>
              </a:rPr>
              <a:t>viable técnica y científicamente. El acceso a los participantes es el único factor condicionado y se atiende con participación voluntaria y anónima.</a:t>
            </a:r>
            <a:endParaRPr lang="en-US" sz="17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005840" y="749137"/>
            <a:ext cx="9144000" cy="2377440"/>
          </a:xfrm>
          <a:prstGeom prst="rect">
            <a:avLst/>
          </a:prstGeom>
          <a:noFill/>
          <a:ln/>
        </p:spPr>
        <p:txBody>
          <a:bodyPr wrap="square" rtlCol="0"/>
          <a:lstStyle/>
          <a:p>
            <a:pPr marL="0" indent="0">
              <a:buNone/>
            </a:pPr>
            <a:r>
              <a:rPr lang="en-US" sz="4800" dirty="0">
                <a:solidFill>
                  <a:schemeClr val="bg1"/>
                </a:solidFill>
                <a:latin typeface="+mj-lt"/>
              </a:rPr>
              <a:t>Cambiar de paradigma es un reto de personas y organizaciones, no solo de herramientas</a:t>
            </a:r>
          </a:p>
        </p:txBody>
      </p:sp>
      <p:sp>
        <p:nvSpPr>
          <p:cNvPr id="3" name="cierre La teoría"/>
          <p:cNvSpPr/>
          <p:nvPr/>
        </p:nvSpPr>
        <p:spPr>
          <a:xfrm>
            <a:off x="731520" y="3657600"/>
            <a:ext cx="3383280" cy="2468880"/>
          </a:xfrm>
          <a:prstGeom prst="roundRect">
            <a:avLst>
              <a:gd name="adj" fmla="val 4444"/>
            </a:avLst>
          </a:prstGeom>
          <a:solidFill>
            <a:srgbClr val="3A4A63"/>
          </a:solidFill>
          <a:ln w="12700">
            <a:solidFill>
              <a:srgbClr val="3A4A63"/>
            </a:solidFill>
            <a:prstDash val="solid"/>
          </a:ln>
        </p:spPr>
      </p:sp>
      <p:sp>
        <p:nvSpPr>
          <p:cNvPr id="4" name="Text 2"/>
          <p:cNvSpPr txBox="1"/>
          <p:nvPr/>
        </p:nvSpPr>
        <p:spPr>
          <a:xfrm>
            <a:off x="1005840" y="3886200"/>
            <a:ext cx="2834640" cy="457200"/>
          </a:xfrm>
          <a:prstGeom prst="rect">
            <a:avLst/>
          </a:prstGeom>
          <a:noFill/>
          <a:ln/>
        </p:spPr>
        <p:txBody>
          <a:bodyPr wrap="square" lIns="0" tIns="0" rIns="0" bIns="0" rtlCol="0" anchor="t"/>
          <a:lstStyle/>
          <a:p>
            <a:pPr marL="0" indent="0">
              <a:buNone/>
            </a:pPr>
            <a:r>
              <a:rPr lang="en-US" sz="2200" b="1" dirty="0">
                <a:solidFill>
                  <a:schemeClr val="accent3"/>
                </a:solidFill>
                <a:latin typeface="Cambria" pitchFamily="34" charset="0"/>
                <a:ea typeface="Cambria" pitchFamily="34" charset="-122"/>
                <a:cs typeface="Cambria" pitchFamily="34" charset="-120"/>
              </a:rPr>
              <a:t>La teoría</a:t>
            </a:r>
            <a:endParaRPr lang="en-US" sz="2200" dirty="0"/>
          </a:p>
        </p:txBody>
      </p:sp>
      <p:sp>
        <p:nvSpPr>
          <p:cNvPr id="5" name="Text 3"/>
          <p:cNvSpPr txBox="1"/>
          <p:nvPr/>
        </p:nvSpPr>
        <p:spPr>
          <a:xfrm>
            <a:off x="1005840" y="4480560"/>
            <a:ext cx="2834640" cy="155448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Kuhn ofrece un lenguaje para entender por qué un cambio técnico encuentra resistencia.</a:t>
            </a:r>
            <a:endParaRPr lang="en-US" sz="1600" dirty="0"/>
          </a:p>
        </p:txBody>
      </p:sp>
      <p:sp>
        <p:nvSpPr>
          <p:cNvPr id="6" name="cierre La evidencia"/>
          <p:cNvSpPr/>
          <p:nvPr/>
        </p:nvSpPr>
        <p:spPr>
          <a:xfrm>
            <a:off x="4389120" y="3657600"/>
            <a:ext cx="3383280" cy="2468880"/>
          </a:xfrm>
          <a:prstGeom prst="roundRect">
            <a:avLst>
              <a:gd name="adj" fmla="val 4444"/>
            </a:avLst>
          </a:prstGeom>
          <a:solidFill>
            <a:srgbClr val="3A4A63"/>
          </a:solidFill>
          <a:ln w="12700">
            <a:solidFill>
              <a:srgbClr val="3A4A63"/>
            </a:solidFill>
            <a:prstDash val="solid"/>
          </a:ln>
        </p:spPr>
      </p:sp>
      <p:sp>
        <p:nvSpPr>
          <p:cNvPr id="7" name="Text 5"/>
          <p:cNvSpPr txBox="1"/>
          <p:nvPr/>
        </p:nvSpPr>
        <p:spPr>
          <a:xfrm>
            <a:off x="4663440" y="3886200"/>
            <a:ext cx="2834640" cy="457200"/>
          </a:xfrm>
          <a:prstGeom prst="rect">
            <a:avLst/>
          </a:prstGeom>
          <a:noFill/>
          <a:ln/>
        </p:spPr>
        <p:txBody>
          <a:bodyPr wrap="square" lIns="0" tIns="0" rIns="0" bIns="0" rtlCol="0" anchor="t"/>
          <a:lstStyle/>
          <a:p>
            <a:pPr marL="0" indent="0">
              <a:buNone/>
            </a:pPr>
            <a:r>
              <a:rPr lang="en-US" sz="2200" b="1" dirty="0">
                <a:solidFill>
                  <a:schemeClr val="accent3"/>
                </a:solidFill>
                <a:latin typeface="Cambria" pitchFamily="34" charset="0"/>
                <a:ea typeface="Cambria" pitchFamily="34" charset="-122"/>
                <a:cs typeface="Cambria" pitchFamily="34" charset="-120"/>
              </a:rPr>
              <a:t>La evidencia</a:t>
            </a:r>
            <a:endParaRPr lang="en-US" sz="2200" dirty="0"/>
          </a:p>
        </p:txBody>
      </p:sp>
      <p:sp>
        <p:nvSpPr>
          <p:cNvPr id="8" name="Text 6"/>
          <p:cNvSpPr txBox="1"/>
          <p:nvPr/>
        </p:nvSpPr>
        <p:spPr>
          <a:xfrm>
            <a:off x="4663440" y="4480560"/>
            <a:ext cx="2834640" cy="155448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Los datos internacionales muestran que el enfoque tradicional ya no alcanza.</a:t>
            </a:r>
            <a:endParaRPr lang="en-US" sz="1600" dirty="0"/>
          </a:p>
        </p:txBody>
      </p:sp>
      <p:sp>
        <p:nvSpPr>
          <p:cNvPr id="9" name="cierre El estudio"/>
          <p:cNvSpPr/>
          <p:nvPr/>
        </p:nvSpPr>
        <p:spPr>
          <a:xfrm>
            <a:off x="8046720" y="3657600"/>
            <a:ext cx="3383280" cy="2468880"/>
          </a:xfrm>
          <a:prstGeom prst="roundRect">
            <a:avLst>
              <a:gd name="adj" fmla="val 4444"/>
            </a:avLst>
          </a:prstGeom>
          <a:solidFill>
            <a:srgbClr val="3A4A63"/>
          </a:solidFill>
          <a:ln w="12700">
            <a:solidFill>
              <a:srgbClr val="3A4A63"/>
            </a:solidFill>
            <a:prstDash val="solid"/>
          </a:ln>
        </p:spPr>
      </p:sp>
      <p:sp>
        <p:nvSpPr>
          <p:cNvPr id="10" name="Text 8"/>
          <p:cNvSpPr txBox="1"/>
          <p:nvPr/>
        </p:nvSpPr>
        <p:spPr>
          <a:xfrm>
            <a:off x="8321040" y="3886200"/>
            <a:ext cx="2834640" cy="457200"/>
          </a:xfrm>
          <a:prstGeom prst="rect">
            <a:avLst/>
          </a:prstGeom>
          <a:noFill/>
          <a:ln/>
        </p:spPr>
        <p:txBody>
          <a:bodyPr wrap="square" lIns="0" tIns="0" rIns="0" bIns="0" rtlCol="0" anchor="t"/>
          <a:lstStyle/>
          <a:p>
            <a:pPr marL="0" indent="0">
              <a:buNone/>
            </a:pPr>
            <a:r>
              <a:rPr lang="en-US" sz="2200" b="1" dirty="0">
                <a:solidFill>
                  <a:schemeClr val="accent3"/>
                </a:solidFill>
                <a:latin typeface="Cambria" pitchFamily="34" charset="0"/>
                <a:ea typeface="Cambria" pitchFamily="34" charset="-122"/>
                <a:cs typeface="Cambria" pitchFamily="34" charset="-120"/>
              </a:rPr>
              <a:t>El estudio</a:t>
            </a:r>
            <a:endParaRPr lang="en-US" sz="2200" dirty="0"/>
          </a:p>
        </p:txBody>
      </p:sp>
      <p:sp>
        <p:nvSpPr>
          <p:cNvPr id="11" name="Text 9"/>
          <p:cNvSpPr txBox="1"/>
          <p:nvPr/>
        </p:nvSpPr>
        <p:spPr>
          <a:xfrm>
            <a:off x="8321040" y="4480560"/>
            <a:ext cx="2834640" cy="155448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Falta evidencia local sobre qué factores frenan la adopción en Guatemala.</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marL="0" indent="0">
              <a:buNone/>
            </a:pPr>
            <a:r>
              <a:rPr lang="en-US" dirty="0"/>
              <a:t>Referencias</a:t>
            </a:r>
          </a:p>
        </p:txBody>
      </p:sp>
      <p:sp>
        <p:nvSpPr>
          <p:cNvPr id="3" name="Text 1"/>
          <p:cNvSpPr txBox="1"/>
          <p:nvPr/>
        </p:nvSpPr>
        <p:spPr>
          <a:xfrm>
            <a:off x="548640" y="1371600"/>
            <a:ext cx="5440680" cy="4937760"/>
          </a:xfrm>
          <a:prstGeom prst="rect">
            <a:avLst/>
          </a:prstGeom>
          <a:noFill/>
          <a:ln/>
        </p:spPr>
        <p:txBody>
          <a:bodyPr wrap="square" lIns="0" tIns="0" rIns="0" bIns="0" rtlCol="0" anchor="t"/>
          <a:lstStyle/>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Gadea, W. F., Cuenca Jiménez, R. C., &amp; Chaves-Montero, A. (2019). Epistemología y fundamentos de la investigación científica. Cengage Learning; Universidad Técnica Particular de Loja.</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IBM. (2026). Cost of a data breach report 2026. https://www.ibm.com/reports/data-breach</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Kuhn, T. S. (2017). La estructura de las revoluciones científicas (4.ª ed.; C. Solís Santos, Trad.). Fondo de Cultura Económica. (Obra original publicada en 1962)</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Mastercard. (2025, agosto). Guatemala avanza en su digitalización: Mastercard presenta hallazgos clave sobre ciberseguridad y refuerza su compromiso con la protección del ecosistema digital en el país [Comunicado de prensa]. https://www.mastercard.com/ar/es/news-and-trends/press/2025/august/guatemala-avanza-en-su-digitalizacion-mastercard-presenta-hallazgos-clave-sobre-ciberseguridad-y-refuerza-su-compromiso-con-la-proteccion-del-ecosistema-digital-en-el-pais.html</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Ortega Ovalle, M. T. (2026). DevSecOps y su impacto en la gobernanza TI en universidades latinoamericanas. Ciencia Latina Revista Científica Multidisciplinar, 10(1). https://doi.org/10.37811/cl_rcm.v10i1.22753</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Rajapakse, R. N., Zahedi, M., Babar, M. A., &amp; Shen, H. (2022). Challenges and solutions when adopting DevSecOps: A systematic review. Information and Software Technology, 141, Artículo 106700. https://doi.org/10.1016/j.infsof.2021.106700</a:t>
            </a:r>
            <a:endParaRPr lang="en-US" sz="1100" dirty="0"/>
          </a:p>
        </p:txBody>
      </p:sp>
      <p:sp>
        <p:nvSpPr>
          <p:cNvPr id="4" name="Text 2"/>
          <p:cNvSpPr txBox="1"/>
          <p:nvPr/>
        </p:nvSpPr>
        <p:spPr>
          <a:xfrm>
            <a:off x="6172200" y="1371600"/>
            <a:ext cx="5440680" cy="4937760"/>
          </a:xfrm>
          <a:prstGeom prst="rect">
            <a:avLst/>
          </a:prstGeom>
          <a:noFill/>
          <a:ln/>
        </p:spPr>
        <p:txBody>
          <a:bodyPr wrap="square" lIns="0" tIns="0" rIns="0" bIns="0" rtlCol="0" anchor="t"/>
          <a:lstStyle/>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Rose, S., Borchert, O., Mitchell, S., &amp; Connelly, S. (2020). Zero trust architecture (NIST Special Publication 800-207). National Institute of Standards and Technology. https://doi.org/10.6028/NIST.SP.800-207</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RSM Guatemala. (s. f.). Estatus de la iniciativa de Ley 6347 en Guatemala: Un avance hacia la ciberseguridad nacional. https://www.rsm.global/guatemala/es/insights/ley-de-ciberseguridad-guatemala</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Souppaya, M., Scarfone, K., &amp; Dodson, D. (2022). Secure software development framework (SSDF) version 1.1: Recommendations for mitigating the risk of software vulnerabilities (NIST Special Publication 800-218). National Institute of Standards and Technology. https://doi.org/10.6028/NIST.SP.800-218</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Veracode. (2026). 2026 state of software security report. https://www.veracode.com/wp-content/uploads/2026-State-of-Software-Security-Report.pdf</a:t>
            </a:r>
            <a:endParaRPr lang="en-US" sz="1100" dirty="0"/>
          </a:p>
          <a:p>
            <a:pPr marL="0" indent="0" algn="l">
              <a:spcAft>
                <a:spcPts val="700"/>
              </a:spcAft>
              <a:buNone/>
            </a:pPr>
            <a:r>
              <a:rPr lang="en-US" sz="1100" dirty="0">
                <a:solidFill>
                  <a:schemeClr val="tx1"/>
                </a:solidFill>
                <a:latin typeface="Calibri" pitchFamily="34" charset="0"/>
                <a:ea typeface="Calibri" pitchFamily="34" charset="-122"/>
                <a:cs typeface="Calibri" pitchFamily="34" charset="-120"/>
              </a:rPr>
              <a:t>Verizon. (2026). 2026 data breach investigations report. Verizon Business. https://www.verizon.com/business/resources/reports/dbir/</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675"/>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Paradigmas y seguridad">
  <a:themeElements>
    <a:clrScheme name="Paradigmas y seguridad">
      <a:dk1>
        <a:srgbClr val="1B2A41"/>
      </a:dk1>
      <a:lt1>
        <a:srgbClr val="FFFFFF"/>
      </a:lt1>
      <a:dk2>
        <a:srgbClr val="3A4A63"/>
      </a:dk2>
      <a:lt2>
        <a:srgbClr val="EEF1F5"/>
      </a:lt2>
      <a:accent1>
        <a:srgbClr val="1F7A6D"/>
      </a:accent1>
      <a:accent2>
        <a:srgbClr val="B5473A"/>
      </a:accent2>
      <a:accent3>
        <a:srgbClr val="D99A1E"/>
      </a:accent3>
      <a:accent4>
        <a:srgbClr val="5B6675"/>
      </a:accent4>
      <a:accent5>
        <a:srgbClr val="2F5D8A"/>
      </a:accent5>
      <a:accent6>
        <a:srgbClr val="8FBFB6"/>
      </a:accent6>
      <a:hlink>
        <a:srgbClr val="1F7A6D"/>
      </a:hlink>
      <a:folHlink>
        <a:srgbClr val="5B6675"/>
      </a:folHlink>
    </a:clrScheme>
    <a:fontScheme name="Paradigmas y segurida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2614</Words>
  <Application>Microsoft Office PowerPoint</Application>
  <PresentationFormat>Panorámica</PresentationFormat>
  <Paragraphs>195</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vt:lpstr>
      <vt:lpstr>Paradigmas y seguridad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teoría de los paradigmas de Thomas Kuhn aplicada a la seguridad informática</dc:title>
  <dc:subject>PptxGenJS Presentation</dc:subject>
  <dc:creator>Gerbert David García Loaiza</dc:creator>
  <cp:lastModifiedBy>2111608 - GERBERT DAVID GARCIA LOAIZA</cp:lastModifiedBy>
  <cp:revision>2</cp:revision>
  <dcterms:created xsi:type="dcterms:W3CDTF">2026-10-05T16:51:33Z</dcterms:created>
  <dcterms:modified xsi:type="dcterms:W3CDTF">2026-10-10T04:39:00Z</dcterms:modified>
</cp:coreProperties>
</file>